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9620b81f-69ef-5c7b-98be-2a15ed1475e4}">
          <p14:sldIdLst>
            <p14:sldId id="256"/>
            <p14:sldId id="257"/>
            <p14:sldId id="258"/>
          </p14:sldIdLst>
        </p14:section>
        <p14:section name="البدء" id="{589db440-41c6-d3ee-cbe3-3f2454a6e635}">
          <p14:sldIdLst>
            <p14:sldId id="259"/>
            <p14:sldId id="260"/>
            <p14:sldId id="261"/>
          </p14:sldIdLst>
        </p14:section>
        <p14:section name="الشاشات" id="{e87ed267-5116-b903-45d7-a017a50162d3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الاستخدام" id="{d016bfa8-63ea-017d-3d63-b6e9562339b0}">
          <p14:sldIdLst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لوحة «باحث» تعمل على جهاز المؤلف وحده، وتجمع في نافذة واحدة تشغيل الوكلاء وسير العمل والاعتمادات.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AE" altLang="en-US" sz="1000" dirty="0">
                <a:solidFill>
                  <a:schemeClr val="tx2"/>
                </a:solidFill>
                <a:latin typeface="Noto Naskh Arabic"/>
                <a:cs typeface="adwa-assalaf"/>
              </a:rPr>
              <a:t>باحث — دليل لوحة السيطرة</a:t>
            </a:r>
            <a:endParaRPr lang="ar-AE" sz="1000" dirty="0"/>
          </a:p>
        </p:txBody>
      </p:sp>
      <p:pic>
        <p:nvPicPr>
          <p:cNvPr id="3" name="Image 0" descr="/tmp/claude-0/-home-user/11b98046-3116-585b-b221-e5c2e170e62a/scratchpad/deck/assets/bahi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32764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3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ar-AE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AE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1800" dirty="0">
                <a:solidFill>
                  <a:srgbClr val="D9E4F0"/>
                </a:solidFill>
              </a:defRPr>
            </a:lvl1pPr>
          </a:lstStyle>
          <a:p>
            <a:pPr algn="r" indent="0" marL="0">
              <a:buNone/>
            </a:pPr>
            <a:endParaRPr lang="ar-AE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Noto Naskh Arabic"/>
          <a:ea typeface="Noto Naskh Arabic"/>
          <a:cs typeface="adwa-assalaf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Noto Naskh Arabic"/>
          <a:ea typeface="Noto Naskh Arabic"/>
          <a:cs typeface="adwa-assalaf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panel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3" name="cover-icon" descr="/tmp/claude-0/-home-user/11b98046-3116-585b-b221-e5c2e170e62a/scratchpad/deck/assets/bahi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20040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20640" y="0"/>
            <a:ext cx="73152" cy="68580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0" y="18288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6400" b="1" dirty="0">
                <a:solidFill>
                  <a:schemeClr val="bg1"/>
                </a:solidFill>
                <a:latin typeface="Noto Naskh Arabic"/>
                <a:cs typeface="adwa-assalaf"/>
              </a:rPr>
              <a:t>باحث</a:t>
            </a:r>
            <a:endParaRPr lang="ar-AE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3017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dirty="0">
                <a:solidFill>
                  <a:srgbClr val="F0D58A"/>
                </a:solidFill>
                <a:latin typeface="Noto Naskh Arabic"/>
                <a:cs typeface="adwa-assalaf"/>
              </a:rPr>
              <a:t>دليل لوحة السيطرة: الشاشات وطريقة الاستخدام</a:t>
            </a:r>
            <a:endParaRPr lang="ar-AE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3749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مؤسسة البحث والتطوير المعرفي</a:t>
            </a:r>
            <a:endParaRPr lang="ar-AE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5852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rgbClr val="AFC2D6"/>
                </a:solidFill>
                <a:latin typeface="Noto Naskh Arabic"/>
                <a:cs typeface="adwa-assalaf"/>
              </a:rPr>
              <a:t>الإصدار </a:t>
            </a:r>
            <a:r>
              <a:rPr lang="ar-AE" altLang="en-US" sz="1300" dirty="0">
                <a:solidFill>
                  <a:srgbClr val="AFC2D6"/>
                </a:solidFill>
                <a:latin typeface="Calibri"/>
                <a:cs typeface="Calibri"/>
              </a:rPr>
              <a:t>1.6</a:t>
            </a:r>
            <a:r>
              <a:rPr lang="ar-AE" altLang="en-US" sz="1300" dirty="0">
                <a:solidFill>
                  <a:srgbClr val="AFC2D6"/>
                </a:solidFill>
                <a:latin typeface="Noto Naskh Arabic"/>
                <a:cs typeface="adwa-assalaf"/>
              </a:rPr>
              <a:t> · أكتوبر </a:t>
            </a:r>
            <a:r>
              <a:rPr lang="ar-AE" altLang="en-US" sz="1300" dirty="0">
                <a:solidFill>
                  <a:srgbClr val="AFC2D6"/>
                </a:solidFill>
                <a:latin typeface="Calibri"/>
                <a:cs typeface="Calibri"/>
              </a:rPr>
              <a:t>2026</a:t>
            </a:r>
            <a:endParaRPr lang="ar-AE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مؤسسة بحث ونشر رقمية متعددة الوكلاء</a:t>
            </a:r>
            <a:endParaRPr lang="ar-AE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chemeClr val="tx1"/>
                </a:solidFill>
                <a:latin typeface="Noto Naskh Arabic"/>
                <a:cs typeface="adwa-assalaf"/>
              </a:rPr>
              <a:t>من الفكرة إلى البحث والتحليل والكتابة والتحقق والتحكيم والتحرير والتصميم والنشر والأرشفة والتعلم. يعمل الوكلاء ويقترحون، وتتحقق المنظومة، ويبقى الفكر والأطروحة والقرار العلمي النهائي والاعتماد للنشر بيد المؤلف.</a:t>
            </a:r>
            <a:endParaRPr lang="ar-AE" sz="1800" dirty="0"/>
          </a:p>
        </p:txBody>
      </p:sp>
      <p:sp>
        <p:nvSpPr>
          <p:cNvPr id="4" name="tile"/>
          <p:cNvSpPr/>
          <p:nvPr/>
        </p:nvSpPr>
        <p:spPr>
          <a:xfrm>
            <a:off x="950976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5" name="icon-people"/>
          <p:cNvSpPr/>
          <p:nvPr/>
        </p:nvSpPr>
        <p:spPr>
          <a:xfrm>
            <a:off x="10241280" y="2880360"/>
            <a:ext cx="548640" cy="54864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6" name="Image 0" descr="/tmp/claude-0/-home-user/11b98046-3116-585b-b221-e5c2e170e62a/scratchpad/deck/assets/i-peo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30175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ar-AE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60120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وكيلاً ببطاقات تشغيل</a:t>
            </a:r>
            <a:endParaRPr lang="ar-AE" sz="1300" dirty="0"/>
          </a:p>
        </p:txBody>
      </p:sp>
      <p:sp>
        <p:nvSpPr>
          <p:cNvPr id="9" name="tile"/>
          <p:cNvSpPr/>
          <p:nvPr/>
        </p:nvSpPr>
        <p:spPr>
          <a:xfrm>
            <a:off x="726948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0" name="icon-layers"/>
          <p:cNvSpPr/>
          <p:nvPr/>
        </p:nvSpPr>
        <p:spPr>
          <a:xfrm>
            <a:off x="8001000" y="2880360"/>
            <a:ext cx="548640" cy="54864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1" name="Image 1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3017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ar-AE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سير عمل</a:t>
            </a:r>
            <a:endParaRPr lang="ar-AE" sz="1300" dirty="0"/>
          </a:p>
        </p:txBody>
      </p:sp>
      <p:sp>
        <p:nvSpPr>
          <p:cNvPr id="14" name="tile"/>
          <p:cNvSpPr/>
          <p:nvPr/>
        </p:nvSpPr>
        <p:spPr>
          <a:xfrm>
            <a:off x="502920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icon-feather"/>
          <p:cNvSpPr/>
          <p:nvPr/>
        </p:nvSpPr>
        <p:spPr>
          <a:xfrm>
            <a:off x="5760720" y="288036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6" name="Image 2" descr="/tmp/claude-0/-home-user/11b98046-3116-585b-b221-e5c2e170e62a/scratchpad/deck/assets/i-feath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30175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2920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ar-AE" sz="34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أجناس كتابية</a:t>
            </a:r>
            <a:endParaRPr lang="ar-AE" sz="1300" dirty="0"/>
          </a:p>
        </p:txBody>
      </p:sp>
      <p:sp>
        <p:nvSpPr>
          <p:cNvPr id="19" name="tile"/>
          <p:cNvSpPr/>
          <p:nvPr/>
        </p:nvSpPr>
        <p:spPr>
          <a:xfrm>
            <a:off x="278892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0" name="icon-kpi"/>
          <p:cNvSpPr/>
          <p:nvPr/>
        </p:nvSpPr>
        <p:spPr>
          <a:xfrm>
            <a:off x="3520440" y="2880360"/>
            <a:ext cx="548640" cy="548640"/>
          </a:xfrm>
          <a:prstGeom prst="ellipse">
            <a:avLst/>
          </a:prstGeom>
          <a:solidFill>
            <a:srgbClr val="8B1E3F"/>
          </a:solidFill>
          <a:ln w="12700">
            <a:solidFill>
              <a:srgbClr val="8B1E3F"/>
            </a:solidFill>
            <a:prstDash val="solid"/>
          </a:ln>
        </p:spPr>
      </p:sp>
      <p:pic>
        <p:nvPicPr>
          <p:cNvPr id="21" name="Image 3" descr="/tmp/claude-0/-home-user/11b98046-3116-585b-b221-e5c2e170e62a/scratchpad/deck/assets/i-kp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0175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78892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ar-AE" sz="3400" dirty="0"/>
          </a:p>
        </p:txBody>
      </p:sp>
      <p:sp>
        <p:nvSpPr>
          <p:cNvPr id="23" name="Text 17"/>
          <p:cNvSpPr txBox="1"/>
          <p:nvPr/>
        </p:nvSpPr>
        <p:spPr>
          <a:xfrm>
            <a:off x="288036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مستويات إنتاج</a:t>
            </a:r>
            <a:endParaRPr lang="ar-AE" sz="1300" dirty="0"/>
          </a:p>
        </p:txBody>
      </p:sp>
      <p:sp>
        <p:nvSpPr>
          <p:cNvPr id="24" name="tile"/>
          <p:cNvSpPr/>
          <p:nvPr/>
        </p:nvSpPr>
        <p:spPr>
          <a:xfrm>
            <a:off x="548640" y="274320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5" name="icon-play"/>
          <p:cNvSpPr/>
          <p:nvPr/>
        </p:nvSpPr>
        <p:spPr>
          <a:xfrm>
            <a:off x="1280160" y="2880360"/>
            <a:ext cx="548640" cy="54864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26" name="Image 4" descr="/tmp/claude-0/-home-user/11b98046-3116-585b-b221-e5c2e170e62a/scratchpad/deck/assets/i-pla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301752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4864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ar-AE" sz="34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محركات تشغيل</a:t>
            </a:r>
            <a:endParaRPr lang="ar-AE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خمس إدارات تخصصية</a:t>
            </a:r>
            <a:endParaRPr lang="ar-AE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tx1"/>
                </a:solidFill>
                <a:latin typeface="Noto Naskh Arabic"/>
                <a:cs typeface="adwa-assalaf"/>
              </a:rPr>
              <a:t>الكتابة الإبداعية · كتابة المقال · البحوث الأكاديمية المحكّمة · دراسات الفكر والتنمية · البحوث والدراسات الاقتصادية والثقافية</a:t>
            </a:r>
            <a:endParaRPr lang="ar-AE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خريطة هذا الدليل</a:t>
            </a:r>
            <a:endParaRPr lang="ar-AE" sz="3200" dirty="0"/>
          </a:p>
        </p:txBody>
      </p:sp>
      <p:sp>
        <p:nvSpPr>
          <p:cNvPr id="3" name="part-card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0" y="1554480"/>
            <a:ext cx="3520440" cy="10972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icon-download"/>
          <p:cNvSpPr/>
          <p:nvPr/>
        </p:nvSpPr>
        <p:spPr>
          <a:xfrm>
            <a:off x="9372600" y="2057400"/>
            <a:ext cx="868680" cy="8686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6" name="Image 0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9770" y="2274570"/>
            <a:ext cx="434340" cy="434340"/>
          </a:xfrm>
          <a:prstGeom prst="rect">
            <a:avLst/>
          </a:prstGeom>
        </p:spPr>
      </p:pic>
      <p:sp>
        <p:nvSpPr>
          <p:cNvPr id="7" name="num-1"/>
          <p:cNvSpPr/>
          <p:nvPr/>
        </p:nvSpPr>
        <p:spPr>
          <a:xfrm>
            <a:off x="10972800" y="18288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31546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البدء</a:t>
            </a:r>
            <a:endParaRPr lang="ar-AE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dirty="0">
                <a:solidFill>
                  <a:schemeClr val="tx1"/>
                </a:solidFill>
                <a:latin typeface="Noto Naskh Arabic"/>
                <a:cs typeface="adwa-assalaf"/>
              </a:rPr>
              <a:t>التنصيب بسطر واحد، والمحركات الأربعة، والخصوصية.</a:t>
            </a:r>
            <a:endParaRPr lang="ar-AE" sz="1500" dirty="0"/>
          </a:p>
        </p:txBody>
      </p:sp>
      <p:sp>
        <p:nvSpPr>
          <p:cNvPr id="11" name="part-card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97680" y="1554480"/>
            <a:ext cx="3520440" cy="10972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3" name="icon-layers"/>
          <p:cNvSpPr/>
          <p:nvPr/>
        </p:nvSpPr>
        <p:spPr>
          <a:xfrm>
            <a:off x="5623560" y="2057400"/>
            <a:ext cx="868680" cy="86868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4" name="Image 1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730" y="2274570"/>
            <a:ext cx="434340" cy="434340"/>
          </a:xfrm>
          <a:prstGeom prst="rect">
            <a:avLst/>
          </a:prstGeom>
        </p:spPr>
      </p:pic>
      <p:sp>
        <p:nvSpPr>
          <p:cNvPr id="15" name="num-2"/>
          <p:cNvSpPr/>
          <p:nvPr/>
        </p:nvSpPr>
        <p:spPr>
          <a:xfrm>
            <a:off x="7223760" y="18288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31546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الشاشات</a:t>
            </a:r>
            <a:endParaRPr lang="ar-AE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dirty="0">
                <a:solidFill>
                  <a:schemeClr val="tx1"/>
                </a:solidFill>
                <a:latin typeface="Noto Naskh Arabic"/>
                <a:cs typeface="adwa-assalaf"/>
              </a:rPr>
              <a:t>التبويبات العشرة، وصفحة المشروع، وبناء العمل، والتشغيل الآلي.</a:t>
            </a:r>
            <a:endParaRPr lang="ar-AE" sz="1500" dirty="0"/>
          </a:p>
        </p:txBody>
      </p:sp>
      <p:sp>
        <p:nvSpPr>
          <p:cNvPr id="19" name="part-card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48640" y="1554480"/>
            <a:ext cx="3520440" cy="10972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icon-compass"/>
          <p:cNvSpPr/>
          <p:nvPr/>
        </p:nvSpPr>
        <p:spPr>
          <a:xfrm>
            <a:off x="1874520" y="2057400"/>
            <a:ext cx="868680" cy="868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2" name="Image 2" descr="/tmp/claude-0/-home-user/11b98046-3116-585b-b221-e5c2e170e62a/scratchpad/deck/assets/i-compa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690" y="2274570"/>
            <a:ext cx="434340" cy="434340"/>
          </a:xfrm>
          <a:prstGeom prst="rect">
            <a:avLst/>
          </a:prstGeom>
        </p:spPr>
      </p:pic>
      <p:sp>
        <p:nvSpPr>
          <p:cNvPr id="23" name="num-3"/>
          <p:cNvSpPr/>
          <p:nvPr/>
        </p:nvSpPr>
        <p:spPr>
          <a:xfrm>
            <a:off x="3474720" y="18288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47472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31546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الاستخدام</a:t>
            </a:r>
            <a:endParaRPr lang="ar-AE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dirty="0">
                <a:solidFill>
                  <a:schemeClr val="tx1"/>
                </a:solidFill>
                <a:latin typeface="Noto Naskh Arabic"/>
                <a:cs typeface="adwa-assalaf"/>
              </a:rPr>
              <a:t>رحلة عمل كاملة، وقواعد لا تُكسر.</a:t>
            </a:r>
            <a:endParaRPr lang="ar-AE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panel"/>
          <p:cNvSpPr/>
          <p:nvPr/>
        </p:nvSpPr>
        <p:spPr>
          <a:xfrm>
            <a:off x="0" y="0"/>
            <a:ext cx="5486400" cy="65836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section-disc"/>
          <p:cNvSpPr/>
          <p:nvPr/>
        </p:nvSpPr>
        <p:spPr>
          <a:xfrm>
            <a:off x="1600200" y="2148840"/>
            <a:ext cx="2286000" cy="22860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" name="section-icon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2743200"/>
            <a:ext cx="1097280" cy="109728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البدء</a:t>
            </a:r>
            <a:endParaRPr lang="ar-AE" sz="40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تنصيب بسطر واحد، واختيار المحرك، ولوحة لا تغادر جهازكم.</a:t>
            </a:r>
            <a:endParaRPr lang="ar-AE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التنصيب والتحديث بسطر واحد</a:t>
            </a:r>
            <a:endParaRPr lang="ar-AE" sz="3200" dirty="0"/>
          </a:p>
        </p:txBody>
      </p:sp>
      <p:sp>
        <p:nvSpPr>
          <p:cNvPr id="3" name="step-card"/>
          <p:cNvSpPr/>
          <p:nvPr/>
        </p:nvSpPr>
        <p:spPr>
          <a:xfrm>
            <a:off x="804672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" name="icon-check"/>
          <p:cNvSpPr/>
          <p:nvPr/>
        </p:nvSpPr>
        <p:spPr>
          <a:xfrm>
            <a:off x="10835640" y="1554480"/>
            <a:ext cx="548640" cy="54864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1691640"/>
            <a:ext cx="274320" cy="274320"/>
          </a:xfrm>
          <a:prstGeom prst="rect">
            <a:avLst/>
          </a:prstGeom>
        </p:spPr>
      </p:pic>
      <p:sp>
        <p:nvSpPr>
          <p:cNvPr id="6" name="num-1"/>
          <p:cNvSpPr/>
          <p:nvPr/>
        </p:nvSpPr>
        <p:spPr>
          <a:xfrm>
            <a:off x="8275320" y="1600200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2194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Python</a:t>
            </a:r>
            <a:endParaRPr lang="ar-AE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6517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يجده المثبّت، وإن غاب في ويندوز ثبّته لحسابكم وحده.</a:t>
            </a:r>
            <a:endParaRPr lang="ar-AE" sz="1400" dirty="0"/>
          </a:p>
        </p:txBody>
      </p:sp>
      <p:sp>
        <p:nvSpPr>
          <p:cNvPr id="10" name="step-card"/>
          <p:cNvSpPr/>
          <p:nvPr/>
        </p:nvSpPr>
        <p:spPr>
          <a:xfrm>
            <a:off x="429768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1" name="icon-download"/>
          <p:cNvSpPr/>
          <p:nvPr/>
        </p:nvSpPr>
        <p:spPr>
          <a:xfrm>
            <a:off x="7086600" y="1554480"/>
            <a:ext cx="548640" cy="54864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2" name="Image 1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91640"/>
            <a:ext cx="274320" cy="274320"/>
          </a:xfrm>
          <a:prstGeom prst="rect">
            <a:avLst/>
          </a:prstGeom>
        </p:spPr>
      </p:pic>
      <p:sp>
        <p:nvSpPr>
          <p:cNvPr id="13" name="num-2"/>
          <p:cNvSpPr/>
          <p:nvPr/>
        </p:nvSpPr>
        <p:spPr>
          <a:xfrm>
            <a:off x="4526280" y="1600200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262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194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الإصدار</a:t>
            </a:r>
            <a:endParaRPr lang="ar-AE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6517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ينزّله ويثبّت الحزمة ومتطلباتها، ويستعيد الذاكرة الخاصة من نسختها الاحتياطية.</a:t>
            </a:r>
            <a:endParaRPr lang="ar-AE" sz="1400" dirty="0"/>
          </a:p>
        </p:txBody>
      </p:sp>
      <p:sp>
        <p:nvSpPr>
          <p:cNvPr id="17" name="step-card"/>
          <p:cNvSpPr/>
          <p:nvPr/>
        </p:nvSpPr>
        <p:spPr>
          <a:xfrm>
            <a:off x="54864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8" name="icon-home"/>
          <p:cNvSpPr/>
          <p:nvPr/>
        </p:nvSpPr>
        <p:spPr>
          <a:xfrm>
            <a:off x="3337560" y="1554480"/>
            <a:ext cx="548640" cy="54864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19" name="Image 2" descr="/tmp/claude-0/-home-user/11b98046-3116-585b-b221-e5c2e170e62a/scratchpad/deck/assets/i-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691640"/>
            <a:ext cx="274320" cy="274320"/>
          </a:xfrm>
          <a:prstGeom prst="rect">
            <a:avLst/>
          </a:prstGeom>
        </p:spPr>
      </p:pic>
      <p:sp>
        <p:nvSpPr>
          <p:cNvPr id="20" name="num-3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2194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الأيقونة</a:t>
            </a:r>
            <a:endParaRPr lang="ar-AE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26517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يضعها على سطح المكتب ويفتح اللوحة، ثم يتحقق أنها قامت فعلاً.</a:t>
            </a:r>
            <a:endParaRPr lang="ar-AE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3886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التحديث لا يمسّ بياناتكم: تُنقل المشاريع والذاكرة الخاصة والسجلات وقاعدة المعرفة والخزنة و.</a:t>
            </a:r>
            <a:r>
              <a:rPr lang="ar-AE" altLang="en-US" sz="1400" b="1" dirty="0">
                <a:solidFill>
                  <a:schemeClr val="accent1"/>
                </a:solidFill>
                <a:latin typeface="Calibri"/>
                <a:cs typeface="Calibri"/>
              </a:rPr>
              <a:t>env</a:t>
            </a: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 إلى الإصدار الجديد، وتُحفظ النسخة السابقة كاملة باسم ….</a:t>
            </a:r>
            <a:r>
              <a:rPr lang="ar-AE" altLang="en-US" sz="1400" b="1" dirty="0">
                <a:solidFill>
                  <a:schemeClr val="accent1"/>
                </a:solidFill>
                <a:latin typeface="Calibri"/>
                <a:cs typeface="Calibri"/>
              </a:rPr>
              <a:t>previous</a:t>
            </a:r>
            <a:endParaRPr lang="ar-AE" sz="1400" dirty="0"/>
          </a:p>
        </p:txBody>
      </p:sp>
      <p:sp>
        <p:nvSpPr>
          <p:cNvPr id="25" name="cmd-box"/>
          <p:cNvSpPr/>
          <p:nvPr/>
        </p:nvSpPr>
        <p:spPr>
          <a:xfrm>
            <a:off x="548640" y="457200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22960" y="46451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في </a:t>
            </a:r>
            <a:r>
              <a:rPr lang="ar-AE" altLang="en-US" sz="1300" b="1" dirty="0">
                <a:solidFill>
                  <a:srgbClr val="F0D58A"/>
                </a:solidFill>
                <a:latin typeface="Calibri"/>
                <a:cs typeface="Calibri"/>
              </a:rPr>
              <a:t>PowerShell</a:t>
            </a: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 العادي على ويندوز (السطر كاملاً في دليل اللوحة </a:t>
            </a:r>
            <a:r>
              <a:rPr lang="ar-AE" altLang="en-US" sz="1300" b="1" dirty="0">
                <a:solidFill>
                  <a:srgbClr val="F0D58A"/>
                </a:solidFill>
                <a:latin typeface="Calibri"/>
                <a:cs typeface="Calibri"/>
              </a:rPr>
              <a:t>documentation/phase-5/control-panel.md</a:t>
            </a: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):</a:t>
            </a:r>
            <a:endParaRPr lang="ar-AE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22960" y="50292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$f="$env:TEMP\bahith-install.ps1"; iwr https://raw.githubusercontent.com/7r425ypz9t-hue/researchdepart/refs/heads/claude/clever-carson-78yimu/launchers/install_windows.ps1 -OutFile $f; powershell -NoProfile -ExecutionPolicy Bypass -File $f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أربعة محركات، والقرار لكم</a:t>
            </a:r>
            <a:endParaRPr lang="ar-AE" sz="3200" dirty="0"/>
          </a:p>
        </p:txBody>
      </p:sp>
      <p:sp>
        <p:nvSpPr>
          <p:cNvPr id="3" name="engine-card"/>
          <p:cNvSpPr/>
          <p:nvPr/>
        </p:nvSpPr>
        <p:spPr>
          <a:xfrm>
            <a:off x="6217920" y="141732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" name="icon-link"/>
          <p:cNvSpPr/>
          <p:nvPr/>
        </p:nvSpPr>
        <p:spPr>
          <a:xfrm>
            <a:off x="10835640" y="1645920"/>
            <a:ext cx="594360" cy="59436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4230" y="179451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645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يدوي</a:t>
            </a:r>
            <a:endParaRPr lang="ar-AE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148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متاح دائماً: تُعدّ اللوحة حزمة البرومبت كاملة، فتنسخونها إلى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وتلصقون الرد.</a:t>
            </a:r>
            <a:endParaRPr lang="ar-AE" sz="1400" dirty="0"/>
          </a:p>
        </p:txBody>
      </p:sp>
      <p:sp>
        <p:nvSpPr>
          <p:cNvPr id="8" name="engine-card"/>
          <p:cNvSpPr/>
          <p:nvPr/>
        </p:nvSpPr>
        <p:spPr>
          <a:xfrm>
            <a:off x="548640" y="141732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9" name="icon-play"/>
          <p:cNvSpPr/>
          <p:nvPr/>
        </p:nvSpPr>
        <p:spPr>
          <a:xfrm>
            <a:off x="5166360" y="1645920"/>
            <a:ext cx="594360" cy="59436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10" name="Image 1" descr="/tmp/claude-0/-home-user/11b98046-3116-585b-b221-e5c2e170e62a/scratchpad/deck/assets/i-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50" y="179451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45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Claude Code</a:t>
            </a:r>
            <a:endParaRPr lang="ar-AE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148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تشغيل آلي بحسابكم في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على هذا الجهاز، بلا مفتاح في المستودع.</a:t>
            </a:r>
            <a:endParaRPr lang="ar-AE" sz="1400" dirty="0"/>
          </a:p>
        </p:txBody>
      </p:sp>
      <p:sp>
        <p:nvSpPr>
          <p:cNvPr id="13" name="engine-card"/>
          <p:cNvSpPr/>
          <p:nvPr/>
        </p:nvSpPr>
        <p:spPr>
          <a:xfrm>
            <a:off x="6217920" y="342900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4" name="icon-lock"/>
          <p:cNvSpPr/>
          <p:nvPr/>
        </p:nvSpPr>
        <p:spPr>
          <a:xfrm>
            <a:off x="10835640" y="3657600"/>
            <a:ext cx="594360" cy="5943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5" name="Image 2" descr="/tmp/claude-0/-home-user/11b98046-3116-585b-b221-e5c2e170e62a/scratchpad/deck/assets/i-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4230" y="380619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مفتاح </a:t>
            </a:r>
            <a:r>
              <a:rPr lang="ar-AE" altLang="en-US" sz="1900" b="1" dirty="0">
                <a:solidFill>
                  <a:schemeClr val="accent1"/>
                </a:solidFill>
                <a:latin typeface="Calibri"/>
                <a:cs typeface="Calibri"/>
              </a:rPr>
              <a:t>API</a:t>
            </a:r>
            <a:endParaRPr lang="ar-AE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41605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تشغيل آلي بالمفتاح من ملف .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env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ومزوّد ثانٍ يحفظ استقلال المراجعة.</a:t>
            </a:r>
            <a:endParaRPr lang="ar-AE" sz="1400" dirty="0"/>
          </a:p>
        </p:txBody>
      </p:sp>
      <p:sp>
        <p:nvSpPr>
          <p:cNvPr id="18" name="engine-card"/>
          <p:cNvSpPr/>
          <p:nvPr/>
        </p:nvSpPr>
        <p:spPr>
          <a:xfrm>
            <a:off x="548640" y="342900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9" name="icon-compass"/>
          <p:cNvSpPr/>
          <p:nvPr/>
        </p:nvSpPr>
        <p:spPr>
          <a:xfrm>
            <a:off x="5166360" y="3657600"/>
            <a:ext cx="594360" cy="59436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20" name="Image 3" descr="/tmp/claude-0/-home-user/11b98046-3116-585b-b221-e5c2e170e62a/scratchpad/deck/assets/i-compas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4950" y="380619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تلقائي</a:t>
            </a:r>
            <a:endParaRPr lang="ar-AE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1605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المفاتيح أولاً، ثم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Code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ثم اليدوي.</a:t>
            </a:r>
            <a:endParaRPr lang="ar-AE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5321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i="1" dirty="0">
                <a:solidFill>
                  <a:schemeClr val="tx2"/>
                </a:solidFill>
                <a:latin typeface="Noto Naskh Arabic"/>
                <a:cs typeface="adwa-assalaf"/>
              </a:rPr>
              <a:t>اللوحة على </a:t>
            </a:r>
            <a:r>
              <a:rPr lang="ar-AE" altLang="en-US" sz="1400" i="1" dirty="0">
                <a:solidFill>
                  <a:schemeClr val="tx2"/>
                </a:solidFill>
                <a:latin typeface="Calibri"/>
                <a:cs typeface="Calibri"/>
              </a:rPr>
              <a:t>127.0.0.1</a:t>
            </a:r>
            <a:r>
              <a:rPr lang="ar-AE" altLang="en-US" sz="1400" i="1" dirty="0">
                <a:solidFill>
                  <a:schemeClr val="tx2"/>
                </a:solidFill>
                <a:latin typeface="Noto Naskh Arabic"/>
                <a:cs typeface="adwa-assalaf"/>
              </a:rPr>
              <a:t> وحده، برمز يتجدد عند كل تشغيل. ويُختار المحرك من رأس اللوحة في أي وقت.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panel"/>
          <p:cNvSpPr/>
          <p:nvPr/>
        </p:nvSpPr>
        <p:spPr>
          <a:xfrm>
            <a:off x="0" y="0"/>
            <a:ext cx="5486400" cy="65836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section-disc"/>
          <p:cNvSpPr/>
          <p:nvPr/>
        </p:nvSpPr>
        <p:spPr>
          <a:xfrm>
            <a:off x="1600200" y="2148840"/>
            <a:ext cx="2286000" cy="22860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" name="section-icon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2743200"/>
            <a:ext cx="1097280" cy="109728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الشاشات</a:t>
            </a:r>
            <a:endParaRPr lang="ar-AE" sz="40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عشرة تبويبات، وصفحة مشروع فيها لوحة الإشارات والتشغيل الآلي وبناء العمل.</a:t>
            </a:r>
            <a:endParaRPr lang="ar-AE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المؤسسة: الصفحة الأولى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1_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الشريط العلوي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المحرّك المختار وحالته، والتبويبات العشرة.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أرقام المؤسسة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المشاريع، والنشطة منها، والأسئلة بانتظاركم، والوكلاء، والكلفة.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مؤشرات المؤسسة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قيم فعلية من البيانات، ولا مستهدفات رقمية قبل خط أساس تجريبي.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الصفحة الأولى بعد فتح اللوحة من الأيقونة.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مؤشرات المؤسسة والإدارات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1b_home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المؤشرات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نسبة المصادر المتحقق منها، والادعاءات الموثّقة، وسلامة أصول الخزنة، والكلفة.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خط الأساس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يثبّته المؤلف بإقرار صريح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)، ولا مستهدف قبله.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الإدارات التخصصية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خمس إدارات، لكل منها أجناسها ووكلاؤها.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المشاريع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2_projec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الجدول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المعرّف والعنوان والنوع والمرحلة ونسبة الإنجاز والإجراء التالي.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فتح المشروع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«افتح» ينقلكم إلى صفحته الكاملة.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مشروع جديد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الزر الذهبي أعلى الجدول.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مشروعان تجريبيان أُنشئا لأغراض العرض.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مشروع جديد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3_newproje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الإدارة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تختارون الإدارة التخصصية أولاً.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نوع العمل والعنوان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يحدد النوع سير العمل والوكلاء المستدعَين.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مستوى الإنتاج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الهيكل، أو التدرجي وحدة بعد وحدة، أو الكامل دفعة واحدة.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صفحة المشروع ولوحة الإشارات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4_proje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الإجراء التالي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الخطوة القادمة ووكيلها، وزر تشغيلها بالمحرك المختار.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لوحة الإشارات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تشغيل وإيقاف، وإنجاز الخطة، والوكيل التالي، وسير العملية.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الشاشة الجانبية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النص الجاري الآن، وملاحظة تُمرَّر للوكلاء دون إيقاف العمل.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التشغيل الآلي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4c_autopil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الوضع المباشر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يكتب الوكلاء العمل كاملاً ويضبطونه، ثم يعرضونه عليكم مرة واحدة للاعتماد.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الوضع الموجَّه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يتوقف الوكلاء عند كل قرار مرحلي ويعرضونه عليكم بخيارات جاهزة.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الإيقاف الفوري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لوحة الإشارات في أي لحظة.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خطة الحوكمة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4d_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كل خطوة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الوكيل والمهمة ومستوى الصلاحية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L1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ذاتي للوكيل،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موافقة المؤلف).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البوابات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QG0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فما بعدها: لا تنتقل الخطة قبل اجتياز بوابتها.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الإجراءات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تشغيل، وتسجيل مخرج، واعتماد.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تشغيل خطوة في الوضع اليدوي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6_runste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حزمة البرومبت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تُعدّها اللوحة كاملة بعقد الأسلوب والسياق.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انسخ وافتح </a:t>
            </a: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Claude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نقرة تنسخ الحزمة وتفتح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claude.ai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أو تنزيلها ملفاً.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تسجيل المخرج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تلصقون الرد فيُسجَّل ويُفحص.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بناء العمل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5_bo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بطاقة العمل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الجنس والمستوى وعدد الصفحات والكلمات والوحدات المعتمدة.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المخطط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يقترحه الوكيل، أو تحررونه بأنفسكم، ثم تعتمدونه.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الوحدات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تُكتب وحدة بعد وحدة، ولا يدخل المخطوط إلا ما اعتمدتموه.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تحرير المخطط واعتماده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5b_outl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العنوان والموجز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لكل وحدة عنوان وموجز.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الكلمات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تُوزَّع آلياً على الطول الكلي، وتُعدَّل يدوياً.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الترتيب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إضافة وحذف ونقل لأعلى.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الوكلاء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7_ag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39</a:t>
            </a: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 وكيلاً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بطاقة لكل وكيل: دوره ومعرّفه وإدارته ونوعه.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التصفية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بالإدارة والنوع، وبوكلاء النواة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MVP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فتح البطاقة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نقرة على الوكيل تعرض تفاصيله وتفعيله.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بطاقة الوكيل وتفعيله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8_ag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المواصفة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المسؤوليات والمدخلات والمخرجات والأدوات وشروط التوقف.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التكليف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نص التكليف وسياقه، والجنس والسجل الأسلوبي، وداخل مشروع أو خارجه.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الأزرار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تفعيل بالمحرك المختار، وتقييم حي، واختبار بنيوي، ومعاينة البرومبت.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الأجناس الكتابية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9_gen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أربعة أجناس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الإبداع الروائي، والبحث العلمي، والكتابة الفكرية، وأعمدة الرأي.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الصفات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فكرية وأسلوبية تُحقن في برومبت الوكيل.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البصمة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يُقاس النص بمرجع بصمتكم في سجلّه.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مستويات الإنتاج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09b_lev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الهيكل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يبني النظام المخطط وبطاقة لكل وحدة، ويكتب المؤلف النص بنفسه، ثم يُفحص.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التدرجي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تُكتب وحدة قبل اعتماد التي قبلها: مسودة فقياس فمراجعة فاعتماد.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الكامل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الكتاب كاملاً في تشغيل واحد، ثم يراجعه المؤلف ويعيده إلى أسلوبه قبل الاعتماد.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سير العمل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0_workflow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21</a:t>
            </a: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 سير عمل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لكل نوع عمل سيره: الدراسة التطبيقية، والكتاب الأكاديمي، ومقال الرأي…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الخطوات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عدد الخطوات ومعرّف السير على كل بطاقة.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التفاصيل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نقرة تعرض الخطوات ووكلاءها وبواباتها.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الاعتمادات والذاكرة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1_governa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مرشحات بانتظاركم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دروس ومناهج وأخطاء مقترحة للحفظ في الذاكرة.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الإقرار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يدخل شيء الذاكرة المؤسسية إلا بإقراركم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طبقات الذاكرة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المؤسسية، والمؤلف، والبحثية، والتحريرية.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الخزنة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2_va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الإيداع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الأصل يُحفظ للقراءة فقط بمسار من بصمته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SHA-256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السلامة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فحص يكشف كل أصل مفقود أو معدَّل.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النسخ الاحتياطي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نسخة على نمط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BagIt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ببيان البصمات.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أصل تجريبي واحد أُودع لأغراض العرض.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الأدوات والفحوص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3b_ch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فحص النص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وسوم الادعاءات، والاستشهادات (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QG4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)، والسجل الأسلوبي.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التحقق من </a:t>
            </a: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DOI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مطابقة المعرّف بالعنوان والسنة.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سلامة المنظومة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الاتساق، وتوليد ملفات الوكلاء، والاختبار البنيوي، والفحص الأمني.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نص قصير مكتوب للعرض، فيه لوازم صياغة متعمَّدة.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السجل والكلفة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4_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 التدقيق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إجراء بتاريخه وفاعله ومشروعه وقراره ونموذجه.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التصفية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بالمشروع.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الكلفة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قسم «الكلفة» أسفل السجل يجمع أحداثها.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الإعدادات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5_settin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المحركات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حالة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Code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وتسجيل الدخول، ومفاتيح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API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دون عرضها.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الحالة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جذر المستودع، ونسخة الشيفرة، والذاكرة الخاصة.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الخصوصية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اللوحة على هذا الجهاز وحده، وقرارات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بإقراركم.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خط الهوية وأيقونة البرنامج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deck/bshots/15b_ident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خط «أضواء السلف»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يُودَع على الجهاز لا في المستودع، ويُثبَّت في النظام لـ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Word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PowerPoint.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أيقونة البرنامج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اعتماد صورة تختارونها، وتحديث أيقونة سطح المكتب.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إيقاف اللوحة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في آخر الصفحة، والأيقونة تعيد تشغيلها.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panel"/>
          <p:cNvSpPr/>
          <p:nvPr/>
        </p:nvSpPr>
        <p:spPr>
          <a:xfrm>
            <a:off x="0" y="0"/>
            <a:ext cx="5486400" cy="65836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section-disc"/>
          <p:cNvSpPr/>
          <p:nvPr/>
        </p:nvSpPr>
        <p:spPr>
          <a:xfrm>
            <a:off x="1600200" y="2148840"/>
            <a:ext cx="2286000" cy="22860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" name="section-icon" descr="/tmp/claude-0/-home-user/11b98046-3116-585b-b221-e5c2e170e62a/scratchpad/deck/assets/i-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2743200"/>
            <a:ext cx="1097280" cy="109728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الاستخدام</a:t>
            </a:r>
            <a:endParaRPr lang="ar-AE" sz="40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من الفكرة إلى العمل المعتمد، والقرار في كل منعطف لكم.</a:t>
            </a:r>
            <a:endParaRPr lang="ar-AE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رحلة عمل في سبع خطوات</a:t>
            </a:r>
            <a:endParaRPr lang="ar-AE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2057400"/>
            <a:ext cx="996696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dash"/>
          </a:ln>
        </p:spPr>
      </p:sp>
      <p:sp>
        <p:nvSpPr>
          <p:cNvPr id="4" name="icon-folder"/>
          <p:cNvSpPr/>
          <p:nvPr/>
        </p:nvSpPr>
        <p:spPr>
          <a:xfrm>
            <a:off x="10469880" y="1691640"/>
            <a:ext cx="731520" cy="73152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1874520"/>
            <a:ext cx="365760" cy="365760"/>
          </a:xfrm>
          <a:prstGeom prst="rect">
            <a:avLst/>
          </a:prstGeom>
        </p:spPr>
      </p:pic>
      <p:sp>
        <p:nvSpPr>
          <p:cNvPr id="6" name="num-1"/>
          <p:cNvSpPr/>
          <p:nvPr/>
        </p:nvSpPr>
        <p:spPr>
          <a:xfrm>
            <a:off x="11018520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018520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مشروع جديد</a:t>
            </a:r>
            <a:endParaRPr lang="ar-AE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الإدارة والنوع والمستوى</a:t>
            </a:r>
            <a:endParaRPr lang="ar-AE" sz="1200" dirty="0"/>
          </a:p>
        </p:txBody>
      </p:sp>
      <p:sp>
        <p:nvSpPr>
          <p:cNvPr id="10" name="icon-search"/>
          <p:cNvSpPr/>
          <p:nvPr/>
        </p:nvSpPr>
        <p:spPr>
          <a:xfrm>
            <a:off x="8842248" y="1691640"/>
            <a:ext cx="731520" cy="731520"/>
          </a:xfrm>
          <a:prstGeom prst="ellipse">
            <a:avLst/>
          </a:prstGeom>
          <a:solidFill>
            <a:srgbClr val="A0522D"/>
          </a:solidFill>
          <a:ln w="12700">
            <a:solidFill>
              <a:srgbClr val="A0522D"/>
            </a:solidFill>
            <a:prstDash val="solid"/>
          </a:ln>
        </p:spPr>
      </p:sp>
      <p:pic>
        <p:nvPicPr>
          <p:cNvPr id="11" name="Image 1" descr="/tmp/claude-0/-home-user/11b98046-3116-585b-b221-e5c2e170e62a/scratchpad/deck/assets/i-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1874520"/>
            <a:ext cx="365760" cy="365760"/>
          </a:xfrm>
          <a:prstGeom prst="rect">
            <a:avLst/>
          </a:prstGeom>
        </p:spPr>
      </p:pic>
      <p:sp>
        <p:nvSpPr>
          <p:cNvPr id="12" name="num-2"/>
          <p:cNvSpPr/>
          <p:nvPr/>
        </p:nvSpPr>
        <p:spPr>
          <a:xfrm>
            <a:off x="9390888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90888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430768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الإشكالية</a:t>
            </a:r>
            <a:endParaRPr lang="ar-AE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30768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تحديدها ونطاقها</a:t>
            </a:r>
            <a:endParaRPr lang="ar-AE" sz="1200" dirty="0"/>
          </a:p>
        </p:txBody>
      </p:sp>
      <p:sp>
        <p:nvSpPr>
          <p:cNvPr id="16" name="icon-book"/>
          <p:cNvSpPr/>
          <p:nvPr/>
        </p:nvSpPr>
        <p:spPr>
          <a:xfrm>
            <a:off x="7214616" y="1691640"/>
            <a:ext cx="731520" cy="731520"/>
          </a:xfrm>
          <a:prstGeom prst="ellipse">
            <a:avLst/>
          </a:prstGeom>
          <a:solidFill>
            <a:srgbClr val="8B1E3F"/>
          </a:solidFill>
          <a:ln w="12700">
            <a:solidFill>
              <a:srgbClr val="8B1E3F"/>
            </a:solidFill>
            <a:prstDash val="solid"/>
          </a:ln>
        </p:spPr>
      </p:sp>
      <p:pic>
        <p:nvPicPr>
          <p:cNvPr id="17" name="Image 2" descr="/tmp/claude-0/-home-user/11b98046-3116-585b-b221-e5c2e170e62a/scratchpad/deck/assets/i-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7496" y="1874520"/>
            <a:ext cx="365760" cy="365760"/>
          </a:xfrm>
          <a:prstGeom prst="rect">
            <a:avLst/>
          </a:prstGeom>
        </p:spPr>
      </p:pic>
      <p:sp>
        <p:nvSpPr>
          <p:cNvPr id="18" name="num-3"/>
          <p:cNvSpPr/>
          <p:nvPr/>
        </p:nvSpPr>
        <p:spPr>
          <a:xfrm>
            <a:off x="7763256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763256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803136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المصادر</a:t>
            </a:r>
            <a:endParaRPr lang="ar-AE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803136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استكشافها والتحقق منها</a:t>
            </a:r>
            <a:endParaRPr lang="ar-AE" sz="1200" dirty="0"/>
          </a:p>
        </p:txBody>
      </p:sp>
      <p:sp>
        <p:nvSpPr>
          <p:cNvPr id="22" name="icon-layers"/>
          <p:cNvSpPr/>
          <p:nvPr/>
        </p:nvSpPr>
        <p:spPr>
          <a:xfrm>
            <a:off x="5586984" y="169164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3" name="Image 3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864" y="1874520"/>
            <a:ext cx="365760" cy="365760"/>
          </a:xfrm>
          <a:prstGeom prst="rect">
            <a:avLst/>
          </a:prstGeom>
        </p:spPr>
      </p:pic>
      <p:sp>
        <p:nvSpPr>
          <p:cNvPr id="24" name="num-4"/>
          <p:cNvSpPr/>
          <p:nvPr/>
        </p:nvSpPr>
        <p:spPr>
          <a:xfrm>
            <a:off x="6135624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135624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175504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المخطط</a:t>
            </a:r>
            <a:endParaRPr lang="ar-AE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5175504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اقتراحه واعتماده</a:t>
            </a:r>
            <a:endParaRPr lang="ar-AE" sz="1200" dirty="0"/>
          </a:p>
        </p:txBody>
      </p:sp>
      <p:sp>
        <p:nvSpPr>
          <p:cNvPr id="28" name="icon-feather"/>
          <p:cNvSpPr/>
          <p:nvPr/>
        </p:nvSpPr>
        <p:spPr>
          <a:xfrm>
            <a:off x="3959352" y="1691640"/>
            <a:ext cx="731520" cy="731520"/>
          </a:xfrm>
          <a:prstGeom prst="ellipse">
            <a:avLst/>
          </a:prstGeom>
          <a:solidFill>
            <a:srgbClr val="8B1E3F"/>
          </a:solidFill>
          <a:ln w="12700">
            <a:solidFill>
              <a:srgbClr val="8B1E3F"/>
            </a:solidFill>
            <a:prstDash val="solid"/>
          </a:ln>
        </p:spPr>
      </p:sp>
      <p:pic>
        <p:nvPicPr>
          <p:cNvPr id="29" name="Image 4" descr="/tmp/claude-0/-home-user/11b98046-3116-585b-b221-e5c2e170e62a/scratchpad/deck/assets/i-feat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1874520"/>
            <a:ext cx="365760" cy="365760"/>
          </a:xfrm>
          <a:prstGeom prst="rect">
            <a:avLst/>
          </a:prstGeom>
        </p:spPr>
      </p:pic>
      <p:sp>
        <p:nvSpPr>
          <p:cNvPr id="30" name="num-5"/>
          <p:cNvSpPr/>
          <p:nvPr/>
        </p:nvSpPr>
        <p:spPr>
          <a:xfrm>
            <a:off x="4507992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507992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3547872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الكتابة</a:t>
            </a:r>
            <a:endParaRPr lang="ar-AE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547872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وحدة بعد وحدة</a:t>
            </a:r>
            <a:endParaRPr lang="ar-AE" sz="1200" dirty="0"/>
          </a:p>
        </p:txBody>
      </p:sp>
      <p:sp>
        <p:nvSpPr>
          <p:cNvPr id="34" name="icon-shield"/>
          <p:cNvSpPr/>
          <p:nvPr/>
        </p:nvSpPr>
        <p:spPr>
          <a:xfrm>
            <a:off x="2331720" y="1691640"/>
            <a:ext cx="731520" cy="731520"/>
          </a:xfrm>
          <a:prstGeom prst="ellipse">
            <a:avLst/>
          </a:prstGeom>
          <a:solidFill>
            <a:srgbClr val="5B3A7A"/>
          </a:solidFill>
          <a:ln w="12700">
            <a:solidFill>
              <a:srgbClr val="5B3A7A"/>
            </a:solidFill>
            <a:prstDash val="solid"/>
          </a:ln>
        </p:spPr>
      </p:sp>
      <p:pic>
        <p:nvPicPr>
          <p:cNvPr id="35" name="Image 5" descr="/tmp/claude-0/-home-user/11b98046-3116-585b-b221-e5c2e170e62a/scratchpad/deck/assets/i-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1874520"/>
            <a:ext cx="365760" cy="365760"/>
          </a:xfrm>
          <a:prstGeom prst="rect">
            <a:avLst/>
          </a:prstGeom>
        </p:spPr>
      </p:pic>
      <p:sp>
        <p:nvSpPr>
          <p:cNvPr id="36" name="num-6"/>
          <p:cNvSpPr/>
          <p:nvPr/>
        </p:nvSpPr>
        <p:spPr>
          <a:xfrm>
            <a:off x="2880360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2880360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192024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الفحص</a:t>
            </a:r>
            <a:endParaRPr lang="ar-AE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192024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الادعاءات والاستشهادات</a:t>
            </a:r>
            <a:endParaRPr lang="ar-AE" sz="1200" dirty="0"/>
          </a:p>
        </p:txBody>
      </p:sp>
      <p:sp>
        <p:nvSpPr>
          <p:cNvPr id="40" name="icon-check"/>
          <p:cNvSpPr/>
          <p:nvPr/>
        </p:nvSpPr>
        <p:spPr>
          <a:xfrm>
            <a:off x="704088" y="1691640"/>
            <a:ext cx="731520" cy="73152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41" name="Image 6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1874520"/>
            <a:ext cx="365760" cy="365760"/>
          </a:xfrm>
          <a:prstGeom prst="rect">
            <a:avLst/>
          </a:prstGeom>
        </p:spPr>
      </p:pic>
      <p:sp>
        <p:nvSpPr>
          <p:cNvPr id="42" name="num-7"/>
          <p:cNvSpPr/>
          <p:nvPr/>
        </p:nvSpPr>
        <p:spPr>
          <a:xfrm>
            <a:off x="1252728" y="1572768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1252728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292608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</a:t>
            </a:r>
            <a:endParaRPr lang="ar-AE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292608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إقرار المؤلف</a:t>
            </a:r>
            <a:endParaRPr lang="ar-AE" sz="1200" dirty="0"/>
          </a:p>
        </p:txBody>
      </p:sp>
      <p:sp>
        <p:nvSpPr>
          <p:cNvPr id="46" name="gate-box"/>
          <p:cNvSpPr/>
          <p:nvPr/>
        </p:nvSpPr>
        <p:spPr>
          <a:xfrm>
            <a:off x="548640" y="3931920"/>
            <a:ext cx="11091672" cy="1737360"/>
          </a:xfrm>
          <a:prstGeom prst="roundRect">
            <a:avLst>
              <a:gd name="adj" fmla="val 4211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7" name="icon-gate"/>
          <p:cNvSpPr/>
          <p:nvPr/>
        </p:nvSpPr>
        <p:spPr>
          <a:xfrm>
            <a:off x="10835640" y="4114800"/>
            <a:ext cx="548640" cy="54864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8" name="Image 7" descr="/tmp/claude-0/-home-user/11b98046-3116-585b-b221-e5c2e170e62a/scratchpad/deck/assets/i-ga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0" y="4251960"/>
            <a:ext cx="274320" cy="274320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868680" y="411480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في كل منعطف</a:t>
            </a:r>
            <a:endParaRPr lang="ar-AE" sz="1700" dirty="0"/>
          </a:p>
        </p:txBody>
      </p:sp>
      <p:sp>
        <p:nvSpPr>
          <p:cNvPr id="50" name="Text 40"/>
          <p:cNvSpPr txBox="1"/>
          <p:nvPr/>
        </p:nvSpPr>
        <p:spPr>
          <a:xfrm>
            <a:off x="868680" y="452628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يقترح الوكيل، وتتحقق المنظومة ببواباتها، ويقرّر المؤلف. وقرارات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L4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(الاعتماد والترقية وتعديل الذاكرة) تطلب إقراركم الصريح في كل مرة، ولا يدخل المخطوط نص لم تعتمدوه.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قواعد لا تُكسر</a:t>
            </a:r>
            <a:endParaRPr lang="ar-AE" sz="3200" dirty="0"/>
          </a:p>
        </p:txBody>
      </p:sp>
      <p:sp>
        <p:nvSpPr>
          <p:cNvPr id="3" name="icon-alert"/>
          <p:cNvSpPr/>
          <p:nvPr/>
        </p:nvSpPr>
        <p:spPr>
          <a:xfrm>
            <a:off x="11109960" y="1325880"/>
            <a:ext cx="548640" cy="548640"/>
          </a:xfrm>
          <a:prstGeom prst="ellipse">
            <a:avLst/>
          </a:prstGeom>
          <a:solidFill>
            <a:srgbClr val="8B1E3F"/>
          </a:solidFill>
          <a:ln w="12700">
            <a:solidFill>
              <a:srgbClr val="8B1E3F"/>
            </a:solidFill>
            <a:prstDash val="solid"/>
          </a:ln>
        </p:spPr>
      </p:sp>
      <p:pic>
        <p:nvPicPr>
          <p:cNvPr id="4" name="Image 0" descr="/tmp/claude-0/-home-user/11b98046-3116-585b-b221-e5c2e170e62a/scratchpad/deck/assets/i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14630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075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صفر تلفيق</a:t>
            </a:r>
            <a:endParaRPr lang="ar-AE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مرجع ولا اقتباس ولا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DOI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مختلق؛ والمجهول يُكتب «يُستكمل».</a:t>
            </a:r>
            <a:endParaRPr lang="ar-AE" sz="1400" dirty="0"/>
          </a:p>
        </p:txBody>
      </p:sp>
      <p:sp>
        <p:nvSpPr>
          <p:cNvPr id="7" name="icon-check"/>
          <p:cNvSpPr/>
          <p:nvPr/>
        </p:nvSpPr>
        <p:spPr>
          <a:xfrm>
            <a:off x="11109960" y="2240280"/>
            <a:ext cx="548640" cy="54864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8" name="Image 1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23774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22219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سلطة المؤلف</a:t>
            </a:r>
            <a:endParaRPr lang="ar-AE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6060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الفكر والأطروحة والقرار العلمي والاعتماد للنشر بيد المؤلف.</a:t>
            </a:r>
            <a:endParaRPr lang="ar-AE" sz="1400" dirty="0"/>
          </a:p>
        </p:txBody>
      </p:sp>
      <p:sp>
        <p:nvSpPr>
          <p:cNvPr id="11" name="icon-feather"/>
          <p:cNvSpPr/>
          <p:nvPr/>
        </p:nvSpPr>
        <p:spPr>
          <a:xfrm>
            <a:off x="11109960" y="315468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2" name="Image 2" descr="/tmp/claude-0/-home-user/11b98046-3116-585b-b221-e5c2e170e62a/scratchpad/deck/assets/i-feath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32918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31363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عربية بشرية محكمة</a:t>
            </a:r>
            <a:endParaRPr lang="ar-AE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204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لوازم الصياغة الآلية، ولا ملاحظات إنجليزية، ولا علامات مائية.</a:t>
            </a:r>
            <a:endParaRPr lang="ar-AE" sz="1400" dirty="0"/>
          </a:p>
        </p:txBody>
      </p:sp>
      <p:sp>
        <p:nvSpPr>
          <p:cNvPr id="15" name="icon-lock"/>
          <p:cNvSpPr/>
          <p:nvPr/>
        </p:nvSpPr>
        <p:spPr>
          <a:xfrm>
            <a:off x="11109960" y="4069080"/>
            <a:ext cx="548640" cy="54864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16" name="Image 3" descr="/tmp/claude-0/-home-user/11b98046-3116-585b-b221-e5c2e170e62a/scratchpad/deck/assets/i-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420624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40507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الخصوصية</a:t>
            </a:r>
            <a:endParaRPr lang="ar-AE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44348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الذاكرة الخاصة ومخرجات التشغيل لا تُرفع إلى المستودع.</a:t>
            </a:r>
            <a:endParaRPr lang="ar-AE" sz="1400" dirty="0"/>
          </a:p>
        </p:txBody>
      </p:sp>
      <p:sp>
        <p:nvSpPr>
          <p:cNvPr id="19" name="icon-database"/>
          <p:cNvSpPr/>
          <p:nvPr/>
        </p:nvSpPr>
        <p:spPr>
          <a:xfrm>
            <a:off x="11109960" y="4983480"/>
            <a:ext cx="548640" cy="548640"/>
          </a:xfrm>
          <a:prstGeom prst="ellipse">
            <a:avLst/>
          </a:prstGeom>
          <a:solidFill>
            <a:srgbClr val="3E7C3A"/>
          </a:solidFill>
          <a:ln w="12700">
            <a:solidFill>
              <a:srgbClr val="3E7C3A"/>
            </a:solidFill>
            <a:prstDash val="solid"/>
          </a:ln>
        </p:spPr>
      </p:sp>
      <p:pic>
        <p:nvPicPr>
          <p:cNvPr id="20" name="Image 4" descr="/tmp/claude-0/-home-user/11b98046-3116-585b-b221-e5c2e170e62a/scratchpad/deck/assets/i-databa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512064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496519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الأثر المسجَّل</a:t>
            </a:r>
            <a:endParaRPr lang="ar-AE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548640" y="53492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إجراء في سجل التدقيق، وكل أصل ببصمته.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11b98046-3116-585b-b221-e5c2e170e62a/scratchpad/deck/assets/bahi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91440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60604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ابدؤوا بمشروع تجريبي</a:t>
            </a:r>
            <a:endParaRPr lang="ar-AE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1371600" y="347472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000" dirty="0">
                <a:solidFill>
                  <a:srgbClr val="F0D58A"/>
                </a:solidFill>
                <a:latin typeface="Noto Naskh Arabic"/>
                <a:cs typeface="adwa-assalaf"/>
              </a:rPr>
              <a:t>ثم اختاروا المحرك، وشغّلوا الخطوة الأولى، واقرؤوا المخرج في الشاشة الجانبية</a:t>
            </a:r>
            <a:endParaRPr lang="ar-AE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512064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rgbClr val="D9E4F0"/>
                </a:solidFill>
                <a:latin typeface="Noto Naskh Arabic"/>
                <a:cs typeface="adwa-assalaf"/>
              </a:rPr>
              <a:t>دليل اللوحة: </a:t>
            </a:r>
            <a:r>
              <a:rPr lang="ar-AE" altLang="en-US" sz="1400" dirty="0">
                <a:solidFill>
                  <a:srgbClr val="D9E4F0"/>
                </a:solidFill>
                <a:latin typeface="Calibri"/>
                <a:cs typeface="Calibri"/>
              </a:rPr>
              <a:t>documentation/phase-5/control-panel.md</a:t>
            </a:r>
            <a:endParaRPr lang="ar-AE" sz="1400" dirty="0"/>
          </a:p>
        </p:txBody>
      </p:sp>
      <p:sp>
        <p:nvSpPr>
          <p:cNvPr id="6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Bahith">
  <a:themeElements>
    <a:clrScheme name="Bahith">
      <a:dk1>
        <a:srgbClr val="1A2433"/>
      </a:dk1>
      <a:lt1>
        <a:srgbClr val="FFFFFF"/>
      </a:lt1>
      <a:dk2>
        <a:srgbClr val="12263F"/>
      </a:dk2>
      <a:lt2>
        <a:srgbClr val="EEF3F8"/>
      </a:lt2>
      <a:accent1>
        <a:srgbClr val="1F4E79"/>
      </a:accent1>
      <a:accent2>
        <a:srgbClr val="B8860B"/>
      </a:accent2>
      <a:accent3>
        <a:srgbClr val="0E7C86"/>
      </a:accent3>
      <a:accent4>
        <a:srgbClr val="A0522D"/>
      </a:accent4>
      <a:accent5>
        <a:srgbClr val="3E7C3A"/>
      </a:accent5>
      <a:accent6>
        <a:srgbClr val="8B1E3F"/>
      </a:accent6>
      <a:hlink>
        <a:srgbClr val="1F4E79"/>
      </a:hlink>
      <a:folHlink>
        <a:srgbClr val="5B3A7A"/>
      </a:folHlink>
    </a:clrScheme>
    <a:fontScheme name="Bahith">
      <a:majorFont>
        <a:latin typeface="Noto Naskh Arabic"/>
        <a:ea typeface=""/>
        <a:cs typeface="adwa-assalaf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Naskh Arabic"/>
        <a:ea typeface=""/>
        <a:cs typeface="adwa-assalaf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باحث — دليل لوحة السيطرة واستخدامها</dc:title>
  <dc:subject>PptxGenJS Presentation</dc:subject>
  <dc:creator>باحث — مؤسسة البحث والتطوير المعرفي</dc:creator>
  <cp:lastModifiedBy>باحث — مؤسسة البحث والتطوير المعرفي</cp:lastModifiedBy>
  <cp:revision>1</cp:revision>
  <dcterms:created xsi:type="dcterms:W3CDTF">2026-10-15T11:21:26Z</dcterms:created>
  <dcterms:modified xsi:type="dcterms:W3CDTF">2026-10-15T11:21:26Z</dcterms:modified>
</cp:coreProperties>
</file>