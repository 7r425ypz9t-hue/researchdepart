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مقدمة" id="{4ea95716-ebc7-aa9a-02e3-12be8614a0a4}">
          <p14:sldIdLst>
            <p14:sldId id="256"/>
            <p14:sldId id="257"/>
            <p14:sldId id="258"/>
          </p14:sldIdLst>
        </p14:section>
        <p14:section name="البدء" id="{514f499d-8000-1f75-4a78-a714d672ef74}">
          <p14:sldIdLst>
            <p14:sldId id="259"/>
            <p14:sldId id="260"/>
            <p14:sldId id="261"/>
          </p14:sldIdLst>
        </p14:section>
        <p14:section name="الشاشات" id="{6b74f58a-c0b8-9e0c-1675-128ea9a2a8f8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الاستخدام" id="{44004584-8b0b-1591-8a4b-5ac9cef3e2c2}">
          <p14:sldIdLst>
            <p14:sldId id="284"/>
            <p14:sldId id="285"/>
            <p14:sldId id="286"/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لوحة «باحث» تعمل على جهاز المؤلف وحده، وتجمع في نافذة واحدة تشغيل الوكلاء وسير العمل والاعتمادات.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ar-AE" altLang="en-US" sz="1000" dirty="0">
                <a:solidFill>
                  <a:schemeClr val="tx2"/>
                </a:solidFill>
                <a:latin typeface="Noto Naskh Arabic"/>
                <a:cs typeface="adwa-assalaf"/>
              </a:rPr>
              <a:t>باحث — دليل لوحة السيطرة</a:t>
            </a:r>
            <a:endParaRPr lang="ar-AE" sz="1000" dirty="0"/>
          </a:p>
        </p:txBody>
      </p:sp>
      <p:pic>
        <p:nvPicPr>
          <p:cNvPr id="3" name="Image 0" descr="/tmp/claude-0/-home-user/11b98046-3116-585b-b221-e5c2e170e62a/scratchpad/deck/assets/bahi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327648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AE" altLang="en-US" sz="3200" b="1" dirty="0">
                <a:solidFill>
                  <a:schemeClr val="accent1"/>
                </a:solidFill>
              </a:defRPr>
            </a:lvl1pPr>
          </a:lstStyle>
          <a:p>
            <a:pPr algn="r" indent="0" marL="0">
              <a:buNone/>
            </a:pPr>
            <a:endParaRPr lang="ar-AE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>
                <a:latin typeface="Calibri"/>
                <a:cs typeface="Calibri"/>
              </a:rPr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2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035040" y="2514600"/>
            <a:ext cx="5577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AE" altLang="en-US" sz="40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ar-AE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035040" y="3611880"/>
            <a:ext cx="5577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AE" altLang="en-US" sz="1800" dirty="0">
                <a:solidFill>
                  <a:srgbClr val="D9E4F0"/>
                </a:solidFill>
              </a:defRPr>
            </a:lvl1pPr>
          </a:lstStyle>
          <a:p>
            <a:pPr algn="r" indent="0" marL="0">
              <a:buNone/>
            </a:pPr>
            <a:endParaRPr lang="ar-AE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2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>
                <a:latin typeface="Calibri"/>
                <a:cs typeface="Calibri"/>
              </a:rPr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Noto Naskh Arabic"/>
          <a:ea typeface="Noto Naskh Arabic"/>
          <a:cs typeface="adwa-assalaf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Noto Naskh Arabic"/>
          <a:ea typeface="Noto Naskh Arabic"/>
          <a:cs typeface="adwa-assalaf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Noto Naskh Arabic"/>
          <a:ea typeface="Noto Naskh Arabic"/>
          <a:cs typeface="adwa-assalaf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Noto Naskh Arabic"/>
          <a:ea typeface="Noto Naskh Arabic"/>
          <a:cs typeface="adwa-assalaf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Noto Naskh Arabic"/>
          <a:ea typeface="Noto Naskh Arabic"/>
          <a:cs typeface="adwa-assalaf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Noto Naskh Arabic"/>
          <a:ea typeface="Noto Naskh Arabic"/>
          <a:cs typeface="adwa-assalaf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Noto Naskh Arabic"/>
          <a:ea typeface="Noto Naskh Arabic"/>
          <a:cs typeface="adwa-assalaf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Noto Naskh Arabic"/>
          <a:ea typeface="Noto Naskh Arabic"/>
          <a:cs typeface="adwa-assalaf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Noto Naskh Arabic"/>
          <a:ea typeface="Noto Naskh Arabic"/>
          <a:cs typeface="adwa-assalaf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Noto Naskh Arabic"/>
          <a:ea typeface="Noto Naskh Arabic"/>
          <a:cs typeface="adwa-assalaf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Noto Naskh Arabic"/>
          <a:ea typeface="Noto Naskh Arabic"/>
          <a:cs typeface="adwa-assalaf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Noto Naskh Arabic"/>
          <a:ea typeface="Noto Naskh Arabic"/>
          <a:cs typeface="adwa-assalaf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Noto Naskh Arabic"/>
          <a:ea typeface="Noto Naskh Arabic"/>
          <a:cs typeface="adwa-assalaf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Noto Naskh Arabic"/>
          <a:ea typeface="Noto Naskh Arabic"/>
          <a:cs typeface="adwa-assalaf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Noto Naskh Arabic"/>
          <a:ea typeface="Noto Naskh Arabic"/>
          <a:cs typeface="adwa-assalaf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Noto Naskh Arabic"/>
          <a:ea typeface="Noto Naskh Arabic"/>
          <a:cs typeface="adwa-assalaf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Noto Naskh Arabic"/>
          <a:ea typeface="Noto Naskh Arabic"/>
          <a:cs typeface="adwa-assalaf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Noto Naskh Arabic"/>
          <a:ea typeface="Noto Naskh Arabic"/>
          <a:cs typeface="adwa-assalaf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Noto Naskh Arabic"/>
          <a:ea typeface="Noto Naskh Arabic"/>
          <a:cs typeface="adwa-assalaf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image" Target="../media/image-30-7.png"/><Relationship Id="rId8" Type="http://schemas.openxmlformats.org/officeDocument/2006/relationships/image" Target="../media/image-30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panel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3" name="cover-icon" descr="/tmp/claude-0/-home-user/11b98046-3116-585b-b221-e5c2e170e62a/scratchpad/deck/assets/bahi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28800"/>
            <a:ext cx="3200400" cy="3200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120640" y="0"/>
            <a:ext cx="73152" cy="68580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760720" y="182880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6400" b="1" dirty="0">
                <a:solidFill>
                  <a:schemeClr val="bg1"/>
                </a:solidFill>
                <a:latin typeface="Noto Naskh Arabic"/>
                <a:cs typeface="adwa-assalaf"/>
              </a:rPr>
              <a:t>باحث</a:t>
            </a:r>
            <a:endParaRPr lang="ar-AE" sz="6400" dirty="0"/>
          </a:p>
        </p:txBody>
      </p:sp>
      <p:sp>
        <p:nvSpPr>
          <p:cNvPr id="6" name="Text 3"/>
          <p:cNvSpPr txBox="1"/>
          <p:nvPr/>
        </p:nvSpPr>
        <p:spPr>
          <a:xfrm>
            <a:off x="5760720" y="301752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2600" dirty="0">
                <a:solidFill>
                  <a:srgbClr val="F0D58A"/>
                </a:solidFill>
                <a:latin typeface="Noto Naskh Arabic"/>
                <a:cs typeface="adwa-assalaf"/>
              </a:rPr>
              <a:t>دليل لوحة السيطرة: الشاشات وطريقة الاستخدام</a:t>
            </a:r>
            <a:endParaRPr lang="ar-AE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760720" y="37490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800" dirty="0">
                <a:solidFill>
                  <a:srgbClr val="D9E4F0"/>
                </a:solidFill>
                <a:latin typeface="Noto Naskh Arabic"/>
                <a:cs typeface="adwa-assalaf"/>
              </a:rPr>
              <a:t>مؤسسة البحث والتطوير المعرفي</a:t>
            </a:r>
            <a:endParaRPr lang="ar-AE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58521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300" dirty="0">
                <a:solidFill>
                  <a:srgbClr val="AFC2D6"/>
                </a:solidFill>
                <a:latin typeface="Noto Naskh Arabic"/>
                <a:cs typeface="adwa-assalaf"/>
              </a:rPr>
              <a:t>الإصدار </a:t>
            </a:r>
            <a:r>
              <a:rPr lang="ar-AE" altLang="en-US" sz="1300" dirty="0">
                <a:solidFill>
                  <a:srgbClr val="AFC2D6"/>
                </a:solidFill>
                <a:latin typeface="Calibri"/>
                <a:cs typeface="Calibri"/>
              </a:rPr>
              <a:t>1.6</a:t>
            </a:r>
            <a:r>
              <a:rPr lang="ar-AE" altLang="en-US" sz="1300" dirty="0">
                <a:solidFill>
                  <a:srgbClr val="AFC2D6"/>
                </a:solidFill>
                <a:latin typeface="Noto Naskh Arabic"/>
                <a:cs typeface="adwa-assalaf"/>
              </a:rPr>
              <a:t> · أكتوبر </a:t>
            </a:r>
            <a:r>
              <a:rPr lang="ar-AE" altLang="en-US" sz="1300" dirty="0">
                <a:solidFill>
                  <a:srgbClr val="AFC2D6"/>
                </a:solidFill>
                <a:latin typeface="Calibri"/>
                <a:cs typeface="Calibri"/>
              </a:rPr>
              <a:t>2026</a:t>
            </a:r>
            <a:endParaRPr lang="ar-AE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AE" altLang="en-US" sz="3200" b="1" dirty="0">
                <a:solidFill>
                  <a:schemeClr val="accent1"/>
                </a:solidFill>
                <a:latin typeface="Noto Naskh Arabic"/>
                <a:cs typeface="adwa-assalaf"/>
              </a:rPr>
              <a:t>مؤسسة بحث ونشر رقمية متعددة الوكلاء</a:t>
            </a:r>
            <a:endParaRPr lang="ar-AE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800" dirty="0">
                <a:solidFill>
                  <a:schemeClr val="tx1"/>
                </a:solidFill>
                <a:latin typeface="Noto Naskh Arabic"/>
                <a:cs typeface="adwa-assalaf"/>
              </a:rPr>
              <a:t>من الفكرة إلى البحث والتحليل والكتابة والتحقق والتحكيم والتحرير والتصميم والنشر والأرشفة والتعلم. يعمل الوكلاء ويقترحون، وتتحقق المنظومة، ويبقى الفكر والأطروحة والقرار العلمي النهائي والاعتماد للنشر بيد المؤلف.</a:t>
            </a:r>
            <a:endParaRPr lang="ar-AE" sz="1800" dirty="0"/>
          </a:p>
        </p:txBody>
      </p:sp>
      <p:sp>
        <p:nvSpPr>
          <p:cNvPr id="4" name="tile"/>
          <p:cNvSpPr/>
          <p:nvPr/>
        </p:nvSpPr>
        <p:spPr>
          <a:xfrm>
            <a:off x="9509760" y="2743200"/>
            <a:ext cx="2011680" cy="2011680"/>
          </a:xfrm>
          <a:prstGeom prst="roundRect">
            <a:avLst>
              <a:gd name="adj" fmla="val 4545"/>
            </a:avLst>
          </a:prstGeom>
          <a:solidFill>
            <a:srgbClr val="EEF3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5" name="icon-people"/>
          <p:cNvSpPr/>
          <p:nvPr/>
        </p:nvSpPr>
        <p:spPr>
          <a:xfrm>
            <a:off x="10241280" y="2880360"/>
            <a:ext cx="548640" cy="54864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6" name="Image 0" descr="/tmp/claude-0/-home-user/11b98046-3116-585b-b221-e5c2e170e62a/scratchpad/deck/assets/i-peo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30175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509760" y="35204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3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ar-AE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601200" y="4160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300" dirty="0">
                <a:solidFill>
                  <a:schemeClr val="tx2"/>
                </a:solidFill>
                <a:latin typeface="Noto Naskh Arabic"/>
                <a:cs typeface="adwa-assalaf"/>
              </a:rPr>
              <a:t>وكيلاً ببطاقات تشغيل</a:t>
            </a:r>
            <a:endParaRPr lang="ar-AE" sz="1300" dirty="0"/>
          </a:p>
        </p:txBody>
      </p:sp>
      <p:sp>
        <p:nvSpPr>
          <p:cNvPr id="9" name="tile"/>
          <p:cNvSpPr/>
          <p:nvPr/>
        </p:nvSpPr>
        <p:spPr>
          <a:xfrm>
            <a:off x="7269480" y="2743200"/>
            <a:ext cx="2011680" cy="2011680"/>
          </a:xfrm>
          <a:prstGeom prst="roundRect">
            <a:avLst>
              <a:gd name="adj" fmla="val 4545"/>
            </a:avLst>
          </a:prstGeom>
          <a:solidFill>
            <a:srgbClr val="EEF3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0" name="icon-layers"/>
          <p:cNvSpPr/>
          <p:nvPr/>
        </p:nvSpPr>
        <p:spPr>
          <a:xfrm>
            <a:off x="8001000" y="2880360"/>
            <a:ext cx="548640" cy="54864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11" name="Image 1" descr="/tmp/claude-0/-home-user/11b98046-3116-585b-b221-e5c2e170e62a/scratchpad/deck/assets/i-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30175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69480" y="35204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3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ar-AE" sz="3400" dirty="0"/>
          </a:p>
        </p:txBody>
      </p:sp>
      <p:sp>
        <p:nvSpPr>
          <p:cNvPr id="13" name="Text 9"/>
          <p:cNvSpPr txBox="1"/>
          <p:nvPr/>
        </p:nvSpPr>
        <p:spPr>
          <a:xfrm>
            <a:off x="7360920" y="4160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300" dirty="0">
                <a:solidFill>
                  <a:schemeClr val="tx2"/>
                </a:solidFill>
                <a:latin typeface="Noto Naskh Arabic"/>
                <a:cs typeface="adwa-assalaf"/>
              </a:rPr>
              <a:t>سير عمل</a:t>
            </a:r>
            <a:endParaRPr lang="ar-AE" sz="1300" dirty="0"/>
          </a:p>
        </p:txBody>
      </p:sp>
      <p:sp>
        <p:nvSpPr>
          <p:cNvPr id="14" name="tile"/>
          <p:cNvSpPr/>
          <p:nvPr/>
        </p:nvSpPr>
        <p:spPr>
          <a:xfrm>
            <a:off x="5029200" y="2743200"/>
            <a:ext cx="2011680" cy="2011680"/>
          </a:xfrm>
          <a:prstGeom prst="roundRect">
            <a:avLst>
              <a:gd name="adj" fmla="val 4545"/>
            </a:avLst>
          </a:prstGeom>
          <a:solidFill>
            <a:srgbClr val="EEF3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5" name="icon-feather"/>
          <p:cNvSpPr/>
          <p:nvPr/>
        </p:nvSpPr>
        <p:spPr>
          <a:xfrm>
            <a:off x="5760720" y="288036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6" name="Image 2" descr="/tmp/claude-0/-home-user/11b98046-3116-585b-b221-e5c2e170e62a/scratchpad/deck/assets/i-feath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301752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029200" y="35204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3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ar-AE" sz="3400" dirty="0"/>
          </a:p>
        </p:txBody>
      </p:sp>
      <p:sp>
        <p:nvSpPr>
          <p:cNvPr id="18" name="Text 13"/>
          <p:cNvSpPr txBox="1"/>
          <p:nvPr/>
        </p:nvSpPr>
        <p:spPr>
          <a:xfrm>
            <a:off x="5120640" y="4160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300" dirty="0">
                <a:solidFill>
                  <a:schemeClr val="tx2"/>
                </a:solidFill>
                <a:latin typeface="Noto Naskh Arabic"/>
                <a:cs typeface="adwa-assalaf"/>
              </a:rPr>
              <a:t>أجناس كتابية</a:t>
            </a:r>
            <a:endParaRPr lang="ar-AE" sz="1300" dirty="0"/>
          </a:p>
        </p:txBody>
      </p:sp>
      <p:sp>
        <p:nvSpPr>
          <p:cNvPr id="19" name="tile"/>
          <p:cNvSpPr/>
          <p:nvPr/>
        </p:nvSpPr>
        <p:spPr>
          <a:xfrm>
            <a:off x="2788920" y="2743200"/>
            <a:ext cx="2011680" cy="2011680"/>
          </a:xfrm>
          <a:prstGeom prst="roundRect">
            <a:avLst>
              <a:gd name="adj" fmla="val 4545"/>
            </a:avLst>
          </a:prstGeom>
          <a:solidFill>
            <a:srgbClr val="EEF3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0" name="icon-kpi"/>
          <p:cNvSpPr/>
          <p:nvPr/>
        </p:nvSpPr>
        <p:spPr>
          <a:xfrm>
            <a:off x="3520440" y="2880360"/>
            <a:ext cx="548640" cy="548640"/>
          </a:xfrm>
          <a:prstGeom prst="ellipse">
            <a:avLst/>
          </a:prstGeom>
          <a:solidFill>
            <a:srgbClr val="8B1E3F"/>
          </a:solidFill>
          <a:ln w="12700">
            <a:solidFill>
              <a:srgbClr val="8B1E3F"/>
            </a:solidFill>
            <a:prstDash val="solid"/>
          </a:ln>
        </p:spPr>
      </p:sp>
      <p:pic>
        <p:nvPicPr>
          <p:cNvPr id="21" name="Image 3" descr="/tmp/claude-0/-home-user/11b98046-3116-585b-b221-e5c2e170e62a/scratchpad/deck/assets/i-kp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301752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2788920" y="35204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3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ar-AE" sz="3400" dirty="0"/>
          </a:p>
        </p:txBody>
      </p:sp>
      <p:sp>
        <p:nvSpPr>
          <p:cNvPr id="23" name="Text 17"/>
          <p:cNvSpPr txBox="1"/>
          <p:nvPr/>
        </p:nvSpPr>
        <p:spPr>
          <a:xfrm>
            <a:off x="2880360" y="4160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300" dirty="0">
                <a:solidFill>
                  <a:schemeClr val="tx2"/>
                </a:solidFill>
                <a:latin typeface="Noto Naskh Arabic"/>
                <a:cs typeface="adwa-assalaf"/>
              </a:rPr>
              <a:t>مستويات إنتاج</a:t>
            </a:r>
            <a:endParaRPr lang="ar-AE" sz="1300" dirty="0"/>
          </a:p>
        </p:txBody>
      </p:sp>
      <p:sp>
        <p:nvSpPr>
          <p:cNvPr id="24" name="tile"/>
          <p:cNvSpPr/>
          <p:nvPr/>
        </p:nvSpPr>
        <p:spPr>
          <a:xfrm>
            <a:off x="548640" y="2743200"/>
            <a:ext cx="2011680" cy="2011680"/>
          </a:xfrm>
          <a:prstGeom prst="roundRect">
            <a:avLst>
              <a:gd name="adj" fmla="val 4545"/>
            </a:avLst>
          </a:prstGeom>
          <a:solidFill>
            <a:srgbClr val="EEF3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5" name="icon-play"/>
          <p:cNvSpPr/>
          <p:nvPr/>
        </p:nvSpPr>
        <p:spPr>
          <a:xfrm>
            <a:off x="1280160" y="2880360"/>
            <a:ext cx="548640" cy="548640"/>
          </a:xfrm>
          <a:prstGeom prst="ellipse">
            <a:avLst/>
          </a:prstGeom>
          <a:solidFill>
            <a:srgbClr val="3E7C3A"/>
          </a:solidFill>
          <a:ln w="12700">
            <a:solidFill>
              <a:srgbClr val="3E7C3A"/>
            </a:solidFill>
            <a:prstDash val="solid"/>
          </a:ln>
        </p:spPr>
      </p:sp>
      <p:pic>
        <p:nvPicPr>
          <p:cNvPr id="26" name="Image 4" descr="/tmp/claude-0/-home-user/11b98046-3116-585b-b221-e5c2e170e62a/scratchpad/deck/assets/i-pl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7320" y="301752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48640" y="35204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3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ar-AE" sz="3400" dirty="0"/>
          </a:p>
        </p:txBody>
      </p:sp>
      <p:sp>
        <p:nvSpPr>
          <p:cNvPr id="28" name="Text 21"/>
          <p:cNvSpPr txBox="1"/>
          <p:nvPr/>
        </p:nvSpPr>
        <p:spPr>
          <a:xfrm>
            <a:off x="640080" y="4160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300" dirty="0">
                <a:solidFill>
                  <a:schemeClr val="tx2"/>
                </a:solidFill>
                <a:latin typeface="Noto Naskh Arabic"/>
                <a:cs typeface="adwa-assalaf"/>
              </a:rPr>
              <a:t>محركات تشغيل</a:t>
            </a:r>
            <a:endParaRPr lang="ar-AE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548640" y="50292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خمس إدارات تخصصية</a:t>
            </a:r>
            <a:endParaRPr lang="ar-AE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548640" y="54406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500" dirty="0">
                <a:solidFill>
                  <a:schemeClr val="tx1"/>
                </a:solidFill>
                <a:latin typeface="Noto Naskh Arabic"/>
                <a:cs typeface="adwa-assalaf"/>
              </a:rPr>
              <a:t>الكتابة الإبداعية · كتابة المقال · البحوث الأكاديمية المحكّمة · دراسات الفكر والتنمية · البحوث والدراسات الاقتصادية والثقافية</a:t>
            </a:r>
            <a:endParaRPr lang="ar-AE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>
                <a:latin typeface="Calibri"/>
                <a:cs typeface="Calibri"/>
              </a:rPr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AE" altLang="en-US" sz="3200" b="1" dirty="0">
                <a:solidFill>
                  <a:schemeClr val="accent1"/>
                </a:solidFill>
                <a:latin typeface="Noto Naskh Arabic"/>
                <a:cs typeface="adwa-assalaf"/>
              </a:rPr>
              <a:t>خريطة هذا الدليل</a:t>
            </a:r>
            <a:endParaRPr lang="ar-AE" sz="3200" dirty="0"/>
          </a:p>
        </p:txBody>
      </p:sp>
      <p:sp>
        <p:nvSpPr>
          <p:cNvPr id="3" name="part-card"/>
          <p:cNvSpPr/>
          <p:nvPr/>
        </p:nvSpPr>
        <p:spPr>
          <a:xfrm>
            <a:off x="8046720" y="155448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01600" dist="25400" dir="5400000">
              <a:srgbClr val="12263F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0" y="1554480"/>
            <a:ext cx="3520440" cy="1097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" name="icon-download"/>
          <p:cNvSpPr/>
          <p:nvPr/>
        </p:nvSpPr>
        <p:spPr>
          <a:xfrm>
            <a:off x="9372600" y="2057400"/>
            <a:ext cx="868680" cy="86868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6" name="Image 0" descr="/tmp/claude-0/-home-user/11b98046-3116-585b-b221-e5c2e170e62a/scratchpad/deck/assets/i-down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9770" y="2274570"/>
            <a:ext cx="434340" cy="434340"/>
          </a:xfrm>
          <a:prstGeom prst="rect">
            <a:avLst/>
          </a:prstGeom>
        </p:spPr>
      </p:pic>
      <p:sp>
        <p:nvSpPr>
          <p:cNvPr id="7" name="num-1"/>
          <p:cNvSpPr/>
          <p:nvPr/>
        </p:nvSpPr>
        <p:spPr>
          <a:xfrm>
            <a:off x="10972800" y="182880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972800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75320" y="31546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22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البدء</a:t>
            </a:r>
            <a:endParaRPr lang="ar-AE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8321040" y="374904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500" dirty="0">
                <a:solidFill>
                  <a:schemeClr val="tx1"/>
                </a:solidFill>
                <a:latin typeface="Noto Naskh Arabic"/>
                <a:cs typeface="adwa-assalaf"/>
              </a:rPr>
              <a:t>التنصيب بسطر واحد، والمحركات الأربعة، والخصوصية.</a:t>
            </a:r>
            <a:endParaRPr lang="ar-AE" sz="1500" dirty="0"/>
          </a:p>
        </p:txBody>
      </p:sp>
      <p:sp>
        <p:nvSpPr>
          <p:cNvPr id="11" name="part-card"/>
          <p:cNvSpPr/>
          <p:nvPr/>
        </p:nvSpPr>
        <p:spPr>
          <a:xfrm>
            <a:off x="4297680" y="155448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01600" dist="25400" dir="5400000">
              <a:srgbClr val="12263F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97680" y="1554480"/>
            <a:ext cx="3520440" cy="10972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3" name="icon-layers"/>
          <p:cNvSpPr/>
          <p:nvPr/>
        </p:nvSpPr>
        <p:spPr>
          <a:xfrm>
            <a:off x="5623560" y="2057400"/>
            <a:ext cx="868680" cy="86868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14" name="Image 1" descr="/tmp/claude-0/-home-user/11b98046-3116-585b-b221-e5c2e170e62a/scratchpad/deck/assets/i-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0730" y="2274570"/>
            <a:ext cx="434340" cy="434340"/>
          </a:xfrm>
          <a:prstGeom prst="rect">
            <a:avLst/>
          </a:prstGeom>
        </p:spPr>
      </p:pic>
      <p:sp>
        <p:nvSpPr>
          <p:cNvPr id="15" name="num-2"/>
          <p:cNvSpPr/>
          <p:nvPr/>
        </p:nvSpPr>
        <p:spPr>
          <a:xfrm>
            <a:off x="7223760" y="182880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223760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4526280" y="31546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22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الشاشات</a:t>
            </a:r>
            <a:endParaRPr lang="ar-AE" sz="2200" dirty="0"/>
          </a:p>
        </p:txBody>
      </p:sp>
      <p:sp>
        <p:nvSpPr>
          <p:cNvPr id="18" name="Text 14"/>
          <p:cNvSpPr txBox="1"/>
          <p:nvPr/>
        </p:nvSpPr>
        <p:spPr>
          <a:xfrm>
            <a:off x="4572000" y="374904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500" dirty="0">
                <a:solidFill>
                  <a:schemeClr val="tx1"/>
                </a:solidFill>
                <a:latin typeface="Noto Naskh Arabic"/>
                <a:cs typeface="adwa-assalaf"/>
              </a:rPr>
              <a:t>التبويبات العشرة، وصفحة المشروع، وبناء العمل، والتشغيل الآلي.</a:t>
            </a:r>
            <a:endParaRPr lang="ar-AE" sz="1500" dirty="0"/>
          </a:p>
        </p:txBody>
      </p:sp>
      <p:sp>
        <p:nvSpPr>
          <p:cNvPr id="19" name="part-card"/>
          <p:cNvSpPr/>
          <p:nvPr/>
        </p:nvSpPr>
        <p:spPr>
          <a:xfrm>
            <a:off x="548640" y="155448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01600" dist="25400" dir="5400000">
              <a:srgbClr val="12263F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48640" y="1554480"/>
            <a:ext cx="3520440" cy="10972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1" name="icon-compass"/>
          <p:cNvSpPr/>
          <p:nvPr/>
        </p:nvSpPr>
        <p:spPr>
          <a:xfrm>
            <a:off x="1874520" y="2057400"/>
            <a:ext cx="868680" cy="8686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2" name="Image 2" descr="/tmp/claude-0/-home-user/11b98046-3116-585b-b221-e5c2e170e62a/scratchpad/deck/assets/i-compa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1690" y="2274570"/>
            <a:ext cx="434340" cy="434340"/>
          </a:xfrm>
          <a:prstGeom prst="rect">
            <a:avLst/>
          </a:prstGeom>
        </p:spPr>
      </p:pic>
      <p:sp>
        <p:nvSpPr>
          <p:cNvPr id="23" name="num-3"/>
          <p:cNvSpPr/>
          <p:nvPr/>
        </p:nvSpPr>
        <p:spPr>
          <a:xfrm>
            <a:off x="3474720" y="182880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3474720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777240" y="31546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22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الاستخدام</a:t>
            </a:r>
            <a:endParaRPr lang="ar-AE" sz="2200" dirty="0"/>
          </a:p>
        </p:txBody>
      </p:sp>
      <p:sp>
        <p:nvSpPr>
          <p:cNvPr id="26" name="Text 21"/>
          <p:cNvSpPr txBox="1"/>
          <p:nvPr/>
        </p:nvSpPr>
        <p:spPr>
          <a:xfrm>
            <a:off x="822960" y="374904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500" dirty="0">
                <a:solidFill>
                  <a:schemeClr val="tx1"/>
                </a:solidFill>
                <a:latin typeface="Noto Naskh Arabic"/>
                <a:cs typeface="adwa-assalaf"/>
              </a:rPr>
              <a:t>رحلة عمل كاملة، وقواعد لا تُكسر.</a:t>
            </a:r>
            <a:endParaRPr lang="ar-AE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>
                <a:latin typeface="Calibri"/>
                <a:cs typeface="Calibri"/>
              </a:rPr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panel"/>
          <p:cNvSpPr/>
          <p:nvPr/>
        </p:nvSpPr>
        <p:spPr>
          <a:xfrm>
            <a:off x="0" y="0"/>
            <a:ext cx="5486400" cy="65836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ection-disc"/>
          <p:cNvSpPr/>
          <p:nvPr/>
        </p:nvSpPr>
        <p:spPr>
          <a:xfrm>
            <a:off x="1600200" y="2148840"/>
            <a:ext cx="2286000" cy="228600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4" name="section-icon" descr="/tmp/claude-0/-home-user/11b98046-3116-585b-b221-e5c2e170e62a/scratchpad/deck/assets/i-down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2743200"/>
            <a:ext cx="1097280" cy="1097280"/>
          </a:xfrm>
          <a:prstGeom prst="rect">
            <a:avLst/>
          </a:prstGeom>
        </p:spPr>
      </p:pic>
      <p:sp>
        <p:nvSpPr>
          <p:cNvPr id="5" name="Text 1"/>
          <p:cNvSpPr/>
          <p:nvPr>
            <p:ph idx="101" type="title" hasCustomPrompt="1"/>
          </p:nvPr>
        </p:nvSpPr>
        <p:spPr>
          <a:xfrm>
            <a:off x="6035040" y="2514600"/>
            <a:ext cx="5577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AE" altLang="en-US" sz="4000" b="1" dirty="0">
                <a:solidFill>
                  <a:schemeClr val="bg1"/>
                </a:solidFill>
                <a:latin typeface="Noto Naskh Arabic"/>
                <a:cs typeface="adwa-assalaf"/>
              </a:rPr>
              <a:t>البدء</a:t>
            </a:r>
            <a:endParaRPr lang="ar-AE" sz="4000" dirty="0"/>
          </a:p>
        </p:txBody>
      </p:sp>
      <p:sp>
        <p:nvSpPr>
          <p:cNvPr id="6" name="Text 1"/>
          <p:cNvSpPr/>
          <p:nvPr>
            <p:ph idx="102" type="body" hasCustomPrompt="1"/>
          </p:nvPr>
        </p:nvSpPr>
        <p:spPr>
          <a:xfrm>
            <a:off x="6035040" y="3611880"/>
            <a:ext cx="5577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AE" altLang="en-US" sz="1800" dirty="0">
                <a:solidFill>
                  <a:srgbClr val="D9E4F0"/>
                </a:solidFill>
                <a:latin typeface="Noto Naskh Arabic"/>
                <a:cs typeface="adwa-assalaf"/>
              </a:rPr>
              <a:t>تنصيب بسطر واحد، واختيار المحرك، ولوحة لا تغادر جهازكم.</a:t>
            </a:r>
            <a:endParaRPr lang="ar-AE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AE" altLang="en-US" sz="32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التنصيب والتحديث بسطر واحد</a:t>
            </a:r>
            <a:endParaRPr lang="ar-AE" sz="3200" dirty="0"/>
          </a:p>
        </p:txBody>
      </p:sp>
      <p:sp>
        <p:nvSpPr>
          <p:cNvPr id="3" name="step-card"/>
          <p:cNvSpPr/>
          <p:nvPr/>
        </p:nvSpPr>
        <p:spPr>
          <a:xfrm>
            <a:off x="8046720" y="137160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EEF3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" name="icon-check"/>
          <p:cNvSpPr/>
          <p:nvPr/>
        </p:nvSpPr>
        <p:spPr>
          <a:xfrm>
            <a:off x="10835640" y="1554480"/>
            <a:ext cx="548640" cy="54864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5" name="Image 0" descr="/tmp/claude-0/-home-user/11b98046-3116-585b-b221-e5c2e170e62a/scratchpad/deck/assets/i-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1691640"/>
            <a:ext cx="274320" cy="274320"/>
          </a:xfrm>
          <a:prstGeom prst="rect">
            <a:avLst/>
          </a:prstGeom>
        </p:spPr>
      </p:pic>
      <p:sp>
        <p:nvSpPr>
          <p:cNvPr id="6" name="num-1"/>
          <p:cNvSpPr/>
          <p:nvPr/>
        </p:nvSpPr>
        <p:spPr>
          <a:xfrm>
            <a:off x="8275320" y="1600200"/>
            <a:ext cx="384048" cy="38404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7532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321040" y="21945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800" b="1" dirty="0">
                <a:solidFill>
                  <a:schemeClr val="accent1"/>
                </a:solidFill>
                <a:latin typeface="Noto Naskh Arabic"/>
                <a:cs typeface="adwa-assalaf"/>
              </a:rPr>
              <a:t>Python</a:t>
            </a:r>
            <a:endParaRPr lang="ar-AE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265176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يجده المثبّت، وإن غاب في ويندوز ثبّته لحسابكم وحده.</a:t>
            </a:r>
            <a:endParaRPr lang="ar-AE" sz="1400" dirty="0"/>
          </a:p>
        </p:txBody>
      </p:sp>
      <p:sp>
        <p:nvSpPr>
          <p:cNvPr id="10" name="step-card"/>
          <p:cNvSpPr/>
          <p:nvPr/>
        </p:nvSpPr>
        <p:spPr>
          <a:xfrm>
            <a:off x="4297680" y="137160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EEF3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icon-download"/>
          <p:cNvSpPr/>
          <p:nvPr/>
        </p:nvSpPr>
        <p:spPr>
          <a:xfrm>
            <a:off x="7086600" y="1554480"/>
            <a:ext cx="548640" cy="54864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12" name="Image 1" descr="/tmp/claude-0/-home-user/11b98046-3116-585b-b221-e5c2e170e62a/scratchpad/deck/assets/i-downlo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691640"/>
            <a:ext cx="274320" cy="274320"/>
          </a:xfrm>
          <a:prstGeom prst="rect">
            <a:avLst/>
          </a:prstGeom>
        </p:spPr>
      </p:pic>
      <p:sp>
        <p:nvSpPr>
          <p:cNvPr id="13" name="num-2"/>
          <p:cNvSpPr/>
          <p:nvPr/>
        </p:nvSpPr>
        <p:spPr>
          <a:xfrm>
            <a:off x="4526280" y="1600200"/>
            <a:ext cx="384048" cy="38404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52628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21945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8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الإصدار</a:t>
            </a:r>
            <a:endParaRPr lang="ar-AE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0" y="265176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ينزّله ويثبّت الحزمة ومتطلباتها، ويستعيد الذاكرة الخاصة من نسختها الاحتياطية.</a:t>
            </a:r>
            <a:endParaRPr lang="ar-AE" sz="1400" dirty="0"/>
          </a:p>
        </p:txBody>
      </p:sp>
      <p:sp>
        <p:nvSpPr>
          <p:cNvPr id="17" name="step-card"/>
          <p:cNvSpPr/>
          <p:nvPr/>
        </p:nvSpPr>
        <p:spPr>
          <a:xfrm>
            <a:off x="548640" y="137160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EEF3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8" name="icon-home"/>
          <p:cNvSpPr/>
          <p:nvPr/>
        </p:nvSpPr>
        <p:spPr>
          <a:xfrm>
            <a:off x="3337560" y="1554480"/>
            <a:ext cx="548640" cy="548640"/>
          </a:xfrm>
          <a:prstGeom prst="ellipse">
            <a:avLst/>
          </a:prstGeom>
          <a:solidFill>
            <a:srgbClr val="3E7C3A"/>
          </a:solidFill>
          <a:ln w="12700">
            <a:solidFill>
              <a:srgbClr val="3E7C3A"/>
            </a:solidFill>
            <a:prstDash val="solid"/>
          </a:ln>
        </p:spPr>
      </p:sp>
      <p:pic>
        <p:nvPicPr>
          <p:cNvPr id="19" name="Image 2" descr="/tmp/claude-0/-home-user/11b98046-3116-585b-b221-e5c2e170e62a/scratchpad/deck/assets/i-ho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691640"/>
            <a:ext cx="274320" cy="274320"/>
          </a:xfrm>
          <a:prstGeom prst="rect">
            <a:avLst/>
          </a:prstGeom>
        </p:spPr>
      </p:pic>
      <p:sp>
        <p:nvSpPr>
          <p:cNvPr id="20" name="num-3"/>
          <p:cNvSpPr/>
          <p:nvPr/>
        </p:nvSpPr>
        <p:spPr>
          <a:xfrm>
            <a:off x="777240" y="1600200"/>
            <a:ext cx="384048" cy="38404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77724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822960" y="21945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8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الأيقونة</a:t>
            </a:r>
            <a:endParaRPr lang="ar-AE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822960" y="265176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يضعها على سطح المكتب ويفتح اللوحة، ثم يتحقق أنها قامت فعلاً.</a:t>
            </a:r>
            <a:endParaRPr lang="ar-AE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548640" y="38862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4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التحديث لا يمسّ بياناتكم: تُنقل المشاريع والذاكرة الخاصة والسجلات وقاعدة المعرفة والخزنة و.</a:t>
            </a:r>
            <a:r>
              <a:rPr lang="ar-AE" altLang="en-US" sz="1400" b="1" dirty="0">
                <a:solidFill>
                  <a:schemeClr val="accent1"/>
                </a:solidFill>
                <a:latin typeface="Calibri"/>
                <a:cs typeface="Calibri"/>
              </a:rPr>
              <a:t>env</a:t>
            </a:r>
            <a:r>
              <a:rPr lang="ar-AE" altLang="en-US" sz="1400" b="1" dirty="0">
                <a:solidFill>
                  <a:schemeClr val="accent1"/>
                </a:solidFill>
                <a:latin typeface="Noto Naskh Arabic"/>
                <a:cs typeface="adwa-assalaf"/>
              </a:rPr>
              <a:t> إلى الإصدار الجديد، وتُحفظ النسخة السابقة كاملة باسم ….</a:t>
            </a:r>
            <a:r>
              <a:rPr lang="ar-AE" altLang="en-US" sz="1400" b="1" dirty="0">
                <a:solidFill>
                  <a:schemeClr val="accent1"/>
                </a:solidFill>
                <a:latin typeface="Calibri"/>
                <a:cs typeface="Calibri"/>
              </a:rPr>
              <a:t>previous</a:t>
            </a:r>
            <a:endParaRPr lang="ar-AE" sz="1400" dirty="0"/>
          </a:p>
        </p:txBody>
      </p:sp>
      <p:sp>
        <p:nvSpPr>
          <p:cNvPr id="25" name="cmd-box"/>
          <p:cNvSpPr/>
          <p:nvPr/>
        </p:nvSpPr>
        <p:spPr>
          <a:xfrm>
            <a:off x="548640" y="4572000"/>
            <a:ext cx="11091672" cy="1325880"/>
          </a:xfrm>
          <a:prstGeom prst="roundRect">
            <a:avLst>
              <a:gd name="adj" fmla="val 5517"/>
            </a:avLst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822960" y="464515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300" b="1" dirty="0">
                <a:solidFill>
                  <a:srgbClr val="F0D58A"/>
                </a:solidFill>
                <a:latin typeface="Noto Naskh Arabic"/>
                <a:cs typeface="adwa-assalaf"/>
              </a:rPr>
              <a:t>في </a:t>
            </a:r>
            <a:r>
              <a:rPr lang="ar-AE" altLang="en-US" sz="1300" b="1" dirty="0">
                <a:solidFill>
                  <a:srgbClr val="F0D58A"/>
                </a:solidFill>
                <a:latin typeface="Calibri"/>
                <a:cs typeface="Calibri"/>
              </a:rPr>
              <a:t>PowerShell</a:t>
            </a:r>
            <a:r>
              <a:rPr lang="ar-AE" altLang="en-US" sz="1300" b="1" dirty="0">
                <a:solidFill>
                  <a:srgbClr val="F0D58A"/>
                </a:solidFill>
                <a:latin typeface="Noto Naskh Arabic"/>
                <a:cs typeface="adwa-assalaf"/>
              </a:rPr>
              <a:t> العادي على ويندوز (السطر كاملاً في دليل اللوحة </a:t>
            </a:r>
            <a:r>
              <a:rPr lang="ar-AE" altLang="en-US" sz="1300" b="1" dirty="0">
                <a:solidFill>
                  <a:srgbClr val="F0D58A"/>
                </a:solidFill>
                <a:latin typeface="Calibri"/>
                <a:cs typeface="Calibri"/>
              </a:rPr>
              <a:t>documentation/phase-5/control-panel.md</a:t>
            </a:r>
            <a:r>
              <a:rPr lang="ar-AE" altLang="en-US" sz="1300" b="1" dirty="0">
                <a:solidFill>
                  <a:srgbClr val="F0D58A"/>
                </a:solidFill>
                <a:latin typeface="Noto Naskh Arabic"/>
                <a:cs typeface="adwa-assalaf"/>
              </a:rPr>
              <a:t>):</a:t>
            </a:r>
            <a:endParaRPr lang="ar-AE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822960" y="50292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$f="$env:TEMP\bahith-install.ps1"; iwr https://raw.githubusercontent.com/7r425ypz9t-hue/researchdepart/refs/heads/claude/clever-carson-78yimu/launchers/install_windows.ps1 -OutFile $f; powershell -NoProfile -ExecutionPolicy Bypass -File $f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>
                <a:latin typeface="Calibri"/>
                <a:cs typeface="Calibri"/>
              </a:rPr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AE" altLang="en-US" sz="3200" b="1" dirty="0">
                <a:solidFill>
                  <a:schemeClr val="accent1"/>
                </a:solidFill>
                <a:latin typeface="Noto Naskh Arabic"/>
                <a:cs typeface="adwa-assalaf"/>
              </a:rPr>
              <a:t>أربعة محركات، والقرار لكم</a:t>
            </a:r>
            <a:endParaRPr lang="ar-AE" sz="3200" dirty="0"/>
          </a:p>
        </p:txBody>
      </p:sp>
      <p:sp>
        <p:nvSpPr>
          <p:cNvPr id="3" name="engine-card"/>
          <p:cNvSpPr/>
          <p:nvPr/>
        </p:nvSpPr>
        <p:spPr>
          <a:xfrm>
            <a:off x="6217920" y="1417320"/>
            <a:ext cx="5422392" cy="1783080"/>
          </a:xfrm>
          <a:prstGeom prst="roundRect">
            <a:avLst>
              <a:gd name="adj" fmla="val 5128"/>
            </a:avLst>
          </a:prstGeom>
          <a:solidFill>
            <a:srgbClr val="EEF3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" name="icon-link"/>
          <p:cNvSpPr/>
          <p:nvPr/>
        </p:nvSpPr>
        <p:spPr>
          <a:xfrm>
            <a:off x="10835640" y="1645920"/>
            <a:ext cx="594360" cy="59436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5" name="Image 0" descr="/tmp/claude-0/-home-user/11b98046-3116-585b-b221-e5c2e170e62a/scratchpad/deck/assets/i-l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4230" y="179451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92240" y="1645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900" b="1" dirty="0">
                <a:solidFill>
                  <a:schemeClr val="accent1"/>
                </a:solidFill>
                <a:latin typeface="Noto Naskh Arabic"/>
                <a:cs typeface="adwa-assalaf"/>
              </a:rPr>
              <a:t>يدوي</a:t>
            </a:r>
            <a:endParaRPr lang="ar-AE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6492240" y="21488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متاح دائماً: تُعدّ اللوحة حزمة البرومبت كاملة، فتنسخونها إلى </a:t>
            </a:r>
            <a:r>
              <a:rPr lang="ar-AE" altLang="en-US" sz="1400" dirty="0">
                <a:solidFill>
                  <a:schemeClr val="tx1"/>
                </a:solidFill>
                <a:latin typeface="Calibri"/>
                <a:cs typeface="Calibri"/>
              </a:rPr>
              <a:t>Claude</a:t>
            </a: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 وتلصقون الرد.</a:t>
            </a:r>
            <a:endParaRPr lang="ar-AE" sz="1400" dirty="0"/>
          </a:p>
        </p:txBody>
      </p:sp>
      <p:sp>
        <p:nvSpPr>
          <p:cNvPr id="8" name="engine-card"/>
          <p:cNvSpPr/>
          <p:nvPr/>
        </p:nvSpPr>
        <p:spPr>
          <a:xfrm>
            <a:off x="548640" y="1417320"/>
            <a:ext cx="5422392" cy="1783080"/>
          </a:xfrm>
          <a:prstGeom prst="roundRect">
            <a:avLst>
              <a:gd name="adj" fmla="val 5128"/>
            </a:avLst>
          </a:prstGeom>
          <a:solidFill>
            <a:srgbClr val="EEF3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9" name="icon-play"/>
          <p:cNvSpPr/>
          <p:nvPr/>
        </p:nvSpPr>
        <p:spPr>
          <a:xfrm>
            <a:off x="5166360" y="1645920"/>
            <a:ext cx="594360" cy="59436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10" name="Image 1" descr="/tmp/claude-0/-home-user/11b98046-3116-585b-b221-e5c2e170e62a/scratchpad/deck/assets/i-p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4950" y="179451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22960" y="1645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900" b="1" dirty="0">
                <a:solidFill>
                  <a:schemeClr val="accent1"/>
                </a:solidFill>
                <a:latin typeface="Noto Naskh Arabic"/>
                <a:cs typeface="adwa-assalaf"/>
              </a:rPr>
              <a:t>Claude Code</a:t>
            </a:r>
            <a:endParaRPr lang="ar-AE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21488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تشغيل آلي بحسابكم في </a:t>
            </a:r>
            <a:r>
              <a:rPr lang="ar-AE" altLang="en-US" sz="1400" dirty="0">
                <a:solidFill>
                  <a:schemeClr val="tx1"/>
                </a:solidFill>
                <a:latin typeface="Calibri"/>
                <a:cs typeface="Calibri"/>
              </a:rPr>
              <a:t>Claude</a:t>
            </a: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 على هذا الجهاز، بلا مفتاح في المستودع.</a:t>
            </a:r>
            <a:endParaRPr lang="ar-AE" sz="1400" dirty="0"/>
          </a:p>
        </p:txBody>
      </p:sp>
      <p:sp>
        <p:nvSpPr>
          <p:cNvPr id="13" name="engine-card"/>
          <p:cNvSpPr/>
          <p:nvPr/>
        </p:nvSpPr>
        <p:spPr>
          <a:xfrm>
            <a:off x="6217920" y="3429000"/>
            <a:ext cx="5422392" cy="1783080"/>
          </a:xfrm>
          <a:prstGeom prst="roundRect">
            <a:avLst>
              <a:gd name="adj" fmla="val 5128"/>
            </a:avLst>
          </a:prstGeom>
          <a:solidFill>
            <a:srgbClr val="EEF3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4" name="icon-lock"/>
          <p:cNvSpPr/>
          <p:nvPr/>
        </p:nvSpPr>
        <p:spPr>
          <a:xfrm>
            <a:off x="10835640" y="3657600"/>
            <a:ext cx="594360" cy="59436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5" name="Image 2" descr="/tmp/claude-0/-home-user/11b98046-3116-585b-b221-e5c2e170e62a/scratchpad/deck/assets/i-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4230" y="3806190"/>
            <a:ext cx="297180" cy="2971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92240" y="36576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900" b="1" dirty="0">
                <a:solidFill>
                  <a:schemeClr val="accent1"/>
                </a:solidFill>
                <a:latin typeface="Noto Naskh Arabic"/>
                <a:cs typeface="adwa-assalaf"/>
              </a:rPr>
              <a:t>مفتاح </a:t>
            </a:r>
            <a:r>
              <a:rPr lang="ar-AE" altLang="en-US" sz="1900" b="1" dirty="0">
                <a:solidFill>
                  <a:schemeClr val="accent1"/>
                </a:solidFill>
                <a:latin typeface="Calibri"/>
                <a:cs typeface="Calibri"/>
              </a:rPr>
              <a:t>API</a:t>
            </a:r>
            <a:endParaRPr lang="ar-AE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6492240" y="416052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تشغيل آلي بالمفتاح من ملف .</a:t>
            </a:r>
            <a:r>
              <a:rPr lang="ar-AE" altLang="en-US" sz="1400" dirty="0">
                <a:solidFill>
                  <a:schemeClr val="tx1"/>
                </a:solidFill>
                <a:latin typeface="Calibri"/>
                <a:cs typeface="Calibri"/>
              </a:rPr>
              <a:t>env</a:t>
            </a: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، ومزوّد ثانٍ يحفظ استقلال المراجعة.</a:t>
            </a:r>
            <a:endParaRPr lang="ar-AE" sz="1400" dirty="0"/>
          </a:p>
        </p:txBody>
      </p:sp>
      <p:sp>
        <p:nvSpPr>
          <p:cNvPr id="18" name="engine-card"/>
          <p:cNvSpPr/>
          <p:nvPr/>
        </p:nvSpPr>
        <p:spPr>
          <a:xfrm>
            <a:off x="548640" y="3429000"/>
            <a:ext cx="5422392" cy="1783080"/>
          </a:xfrm>
          <a:prstGeom prst="roundRect">
            <a:avLst>
              <a:gd name="adj" fmla="val 5128"/>
            </a:avLst>
          </a:prstGeom>
          <a:solidFill>
            <a:srgbClr val="EEF3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9" name="icon-compass"/>
          <p:cNvSpPr/>
          <p:nvPr/>
        </p:nvSpPr>
        <p:spPr>
          <a:xfrm>
            <a:off x="5166360" y="3657600"/>
            <a:ext cx="594360" cy="594360"/>
          </a:xfrm>
          <a:prstGeom prst="ellipse">
            <a:avLst/>
          </a:prstGeom>
          <a:solidFill>
            <a:srgbClr val="3E7C3A"/>
          </a:solidFill>
          <a:ln w="12700">
            <a:solidFill>
              <a:srgbClr val="3E7C3A"/>
            </a:solidFill>
            <a:prstDash val="solid"/>
          </a:ln>
        </p:spPr>
      </p:sp>
      <p:pic>
        <p:nvPicPr>
          <p:cNvPr id="20" name="Image 3" descr="/tmp/claude-0/-home-user/11b98046-3116-585b-b221-e5c2e170e62a/scratchpad/deck/assets/i-compas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4950" y="3806190"/>
            <a:ext cx="297180" cy="2971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22960" y="36576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900" b="1" dirty="0">
                <a:solidFill>
                  <a:schemeClr val="accent1"/>
                </a:solidFill>
                <a:latin typeface="Noto Naskh Arabic"/>
                <a:cs typeface="adwa-assalaf"/>
              </a:rPr>
              <a:t>تلقائي</a:t>
            </a:r>
            <a:endParaRPr lang="ar-AE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416052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المفاتيح أولاً، ثم </a:t>
            </a:r>
            <a:r>
              <a:rPr lang="ar-AE" altLang="en-US" sz="1400" dirty="0">
                <a:solidFill>
                  <a:schemeClr val="tx1"/>
                </a:solidFill>
                <a:latin typeface="Calibri"/>
                <a:cs typeface="Calibri"/>
              </a:rPr>
              <a:t>Claude</a:t>
            </a: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 </a:t>
            </a:r>
            <a:r>
              <a:rPr lang="ar-AE" altLang="en-US" sz="1400" dirty="0">
                <a:solidFill>
                  <a:schemeClr val="tx1"/>
                </a:solidFill>
                <a:latin typeface="Calibri"/>
                <a:cs typeface="Calibri"/>
              </a:rPr>
              <a:t>Code</a:t>
            </a: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، ثم اليدوي.</a:t>
            </a:r>
            <a:endParaRPr lang="ar-AE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55321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400" i="1" dirty="0">
                <a:solidFill>
                  <a:schemeClr val="tx2"/>
                </a:solidFill>
                <a:latin typeface="Noto Naskh Arabic"/>
                <a:cs typeface="adwa-assalaf"/>
              </a:rPr>
              <a:t>اللوحة على </a:t>
            </a:r>
            <a:r>
              <a:rPr lang="ar-AE" altLang="en-US" sz="1400" i="1" dirty="0">
                <a:solidFill>
                  <a:schemeClr val="tx2"/>
                </a:solidFill>
                <a:latin typeface="Calibri"/>
                <a:cs typeface="Calibri"/>
              </a:rPr>
              <a:t>127.0.0.1</a:t>
            </a:r>
            <a:r>
              <a:rPr lang="ar-AE" altLang="en-US" sz="1400" i="1" dirty="0">
                <a:solidFill>
                  <a:schemeClr val="tx2"/>
                </a:solidFill>
                <a:latin typeface="Noto Naskh Arabic"/>
                <a:cs typeface="adwa-assalaf"/>
              </a:rPr>
              <a:t> وحده، برمز يتجدد عند كل تشغيل. ويُختار المحرك من رأس اللوحة في أي وقت.</a:t>
            </a:r>
            <a:endParaRPr lang="ar-AE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>
                <a:latin typeface="Calibri"/>
                <a:cs typeface="Calibri"/>
              </a:rPr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panel"/>
          <p:cNvSpPr/>
          <p:nvPr/>
        </p:nvSpPr>
        <p:spPr>
          <a:xfrm>
            <a:off x="0" y="0"/>
            <a:ext cx="5486400" cy="65836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ection-disc"/>
          <p:cNvSpPr/>
          <p:nvPr/>
        </p:nvSpPr>
        <p:spPr>
          <a:xfrm>
            <a:off x="1600200" y="2148840"/>
            <a:ext cx="2286000" cy="228600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4" name="section-icon" descr="/tmp/claude-0/-home-user/11b98046-3116-585b-b221-e5c2e170e62a/scratchpad/deck/assets/i-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2743200"/>
            <a:ext cx="1097280" cy="1097280"/>
          </a:xfrm>
          <a:prstGeom prst="rect">
            <a:avLst/>
          </a:prstGeom>
        </p:spPr>
      </p:pic>
      <p:sp>
        <p:nvSpPr>
          <p:cNvPr id="5" name="Text 1"/>
          <p:cNvSpPr/>
          <p:nvPr>
            <p:ph idx="101" type="title" hasCustomPrompt="1"/>
          </p:nvPr>
        </p:nvSpPr>
        <p:spPr>
          <a:xfrm>
            <a:off x="6035040" y="2514600"/>
            <a:ext cx="5577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AE" altLang="en-US" sz="4000" b="1" dirty="0">
                <a:solidFill>
                  <a:schemeClr val="bg1"/>
                </a:solidFill>
                <a:latin typeface="Noto Naskh Arabic"/>
                <a:cs typeface="adwa-assalaf"/>
              </a:rPr>
              <a:t>الشاشات</a:t>
            </a:r>
            <a:endParaRPr lang="ar-AE" sz="4000" dirty="0"/>
          </a:p>
        </p:txBody>
      </p:sp>
      <p:sp>
        <p:nvSpPr>
          <p:cNvPr id="6" name="Text 1"/>
          <p:cNvSpPr/>
          <p:nvPr>
            <p:ph idx="102" type="body" hasCustomPrompt="1"/>
          </p:nvPr>
        </p:nvSpPr>
        <p:spPr>
          <a:xfrm>
            <a:off x="6035040" y="3611880"/>
            <a:ext cx="5577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AE" altLang="en-US" sz="1800" dirty="0">
                <a:solidFill>
                  <a:srgbClr val="D9E4F0"/>
                </a:solidFill>
                <a:latin typeface="Noto Naskh Arabic"/>
                <a:cs typeface="adwa-assalaf"/>
              </a:rPr>
              <a:t>عشرة تبويبات، وصفحة مشروع فيها لوحة الإشارات والتشغيل الآلي وبناء العمل.</a:t>
            </a:r>
            <a:endParaRPr lang="ar-AE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AE" altLang="en-US" sz="3200" b="1" dirty="0">
                <a:solidFill>
                  <a:schemeClr val="accent1"/>
                </a:solidFill>
                <a:latin typeface="Noto Naskh Arabic"/>
                <a:cs typeface="adwa-assalaf"/>
              </a:rPr>
              <a:t>المؤسسة: الصفحة الأولى</a:t>
            </a:r>
            <a:endParaRPr lang="ar-AE" sz="3200" dirty="0"/>
          </a:p>
        </p:txBody>
      </p:sp>
      <p:sp>
        <p:nvSpPr>
          <p:cNvPr id="3" name="role-band"/>
          <p:cNvSpPr/>
          <p:nvPr/>
        </p:nvSpPr>
        <p:spPr>
          <a:xfrm>
            <a:off x="548640" y="1161288"/>
            <a:ext cx="11091672" cy="530352"/>
          </a:xfrm>
          <a:prstGeom prst="roundRect">
            <a:avLst>
              <a:gd name="adj" fmla="val 13793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48872" y="1161288"/>
            <a:ext cx="91440" cy="5303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0" y="1161288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500" b="1" dirty="0">
                <a:solidFill>
                  <a:srgbClr val="B8860B"/>
                </a:solidFill>
                <a:latin typeface="Noto Naskh Arabic"/>
                <a:cs typeface="adwa-assalaf"/>
              </a:rPr>
              <a:t>دور الشاشة:</a:t>
            </a:r>
            <a:endParaRPr lang="ar-AE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161288"/>
            <a:ext cx="9857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500" dirty="0">
                <a:solidFill>
                  <a:srgbClr val="12263F"/>
                </a:solidFill>
                <a:latin typeface="Noto Naskh Arabic"/>
                <a:cs typeface="adwa-assalaf"/>
              </a:rPr>
              <a:t>نقطة الانطلاق: حال المؤسسة في نظرة واحدة، والطريق إلى كل قسم، ومنها يُختار المحرك</a:t>
            </a:r>
            <a:endParaRPr lang="ar-AE" sz="1500" dirty="0"/>
          </a:p>
        </p:txBody>
      </p:sp>
      <p:sp>
        <p:nvSpPr>
          <p:cNvPr id="7" name="screen-frame"/>
          <p:cNvSpPr/>
          <p:nvPr/>
        </p:nvSpPr>
        <p:spPr>
          <a:xfrm>
            <a:off x="1133856" y="1819656"/>
            <a:ext cx="6784848" cy="3864483"/>
          </a:xfrm>
          <a:prstGeom prst="roundRect">
            <a:avLst>
              <a:gd name="adj" fmla="val 1893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2263F">
                <a:alpha val="18000"/>
              </a:srgbClr>
            </a:outerShdw>
          </a:effectLst>
        </p:spPr>
      </p:sp>
      <p:pic>
        <p:nvPicPr>
          <p:cNvPr id="8" name="screenshot" descr="/tmp/claude-0/-home-user/11b98046-3116-585b-b221-e5c2e170e62a/scratchpad/deck/bshots/01_hom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874520"/>
            <a:ext cx="6675120" cy="3754755"/>
          </a:xfrm>
          <a:prstGeom prst="rect">
            <a:avLst/>
          </a:prstGeom>
        </p:spPr>
      </p:pic>
      <p:sp>
        <p:nvSpPr>
          <p:cNvPr id="9" name="num-1"/>
          <p:cNvSpPr/>
          <p:nvPr/>
        </p:nvSpPr>
        <p:spPr>
          <a:xfrm>
            <a:off x="11219688" y="1865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219688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1847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الشريط العلوي</a:t>
            </a:r>
            <a:endParaRPr lang="ar-AE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183880" y="2231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المحرّك المختار وحالته، والتبويبات العشرة.</a:t>
            </a:r>
            <a:endParaRPr lang="ar-AE" sz="1400" dirty="0"/>
          </a:p>
        </p:txBody>
      </p:sp>
      <p:sp>
        <p:nvSpPr>
          <p:cNvPr id="13" name="num-2"/>
          <p:cNvSpPr/>
          <p:nvPr/>
        </p:nvSpPr>
        <p:spPr>
          <a:xfrm>
            <a:off x="11219688" y="3008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219688" y="3008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183880" y="2990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أرقام المؤسسة</a:t>
            </a:r>
            <a:endParaRPr lang="ar-AE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3374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المشاريع، والنشطة منها، والأسئلة بانتظاركم، والوكلاء، والكلفة.</a:t>
            </a:r>
            <a:endParaRPr lang="ar-AE" sz="1400" dirty="0"/>
          </a:p>
        </p:txBody>
      </p:sp>
      <p:sp>
        <p:nvSpPr>
          <p:cNvPr id="17" name="num-3"/>
          <p:cNvSpPr/>
          <p:nvPr/>
        </p:nvSpPr>
        <p:spPr>
          <a:xfrm>
            <a:off x="11219688" y="4151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1219688" y="4151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183880" y="4133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مؤشرات المؤسسة</a:t>
            </a:r>
            <a:endParaRPr lang="ar-AE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183880" y="4517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قيم فعلية من البيانات، ولا مستهدفات رقمية قبل خط أساس تجريبي.</a:t>
            </a:r>
            <a:endParaRPr lang="ar-AE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766435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200" i="1" dirty="0">
                <a:solidFill>
                  <a:schemeClr val="tx2"/>
                </a:solidFill>
                <a:latin typeface="Noto Naskh Arabic"/>
                <a:cs typeface="adwa-assalaf"/>
              </a:rPr>
              <a:t>الصفحة الأولى بعد فتح اللوحة من الأيقونة.</a:t>
            </a:r>
            <a:endParaRPr lang="ar-AE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>
                <a:latin typeface="Calibri"/>
                <a:cs typeface="Calibri"/>
              </a:rPr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AE" altLang="en-US" sz="3200" b="1" dirty="0">
                <a:solidFill>
                  <a:schemeClr val="accent1"/>
                </a:solidFill>
                <a:latin typeface="Noto Naskh Arabic"/>
                <a:cs typeface="adwa-assalaf"/>
              </a:rPr>
              <a:t>مؤشرات المؤسسة والإدارات</a:t>
            </a:r>
            <a:endParaRPr lang="ar-AE" sz="3200" dirty="0"/>
          </a:p>
        </p:txBody>
      </p:sp>
      <p:sp>
        <p:nvSpPr>
          <p:cNvPr id="3" name="role-band"/>
          <p:cNvSpPr/>
          <p:nvPr/>
        </p:nvSpPr>
        <p:spPr>
          <a:xfrm>
            <a:off x="548640" y="1161288"/>
            <a:ext cx="11091672" cy="530352"/>
          </a:xfrm>
          <a:prstGeom prst="roundRect">
            <a:avLst>
              <a:gd name="adj" fmla="val 13793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48872" y="1161288"/>
            <a:ext cx="91440" cy="5303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0" y="1161288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500" b="1" dirty="0">
                <a:solidFill>
                  <a:srgbClr val="B8860B"/>
                </a:solidFill>
                <a:latin typeface="Noto Naskh Arabic"/>
                <a:cs typeface="adwa-assalaf"/>
              </a:rPr>
              <a:t>دور الشاشة:</a:t>
            </a:r>
            <a:endParaRPr lang="ar-AE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161288"/>
            <a:ext cx="9857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500" dirty="0">
                <a:solidFill>
                  <a:srgbClr val="12263F"/>
                </a:solidFill>
                <a:latin typeface="Noto Naskh Arabic"/>
                <a:cs typeface="adwa-assalaf"/>
              </a:rPr>
              <a:t>جدول المؤشرات كاملاً، ومنه يُثبَّت خط الأساس، ثم الإدارات الخمس وأجناسها</a:t>
            </a:r>
            <a:endParaRPr lang="ar-AE" sz="1500" dirty="0"/>
          </a:p>
        </p:txBody>
      </p:sp>
      <p:sp>
        <p:nvSpPr>
          <p:cNvPr id="7" name="screen-frame"/>
          <p:cNvSpPr/>
          <p:nvPr/>
        </p:nvSpPr>
        <p:spPr>
          <a:xfrm>
            <a:off x="1133856" y="1819656"/>
            <a:ext cx="6784848" cy="3864483"/>
          </a:xfrm>
          <a:prstGeom prst="roundRect">
            <a:avLst>
              <a:gd name="adj" fmla="val 1893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2263F">
                <a:alpha val="18000"/>
              </a:srgbClr>
            </a:outerShdw>
          </a:effectLst>
        </p:spPr>
      </p:sp>
      <p:pic>
        <p:nvPicPr>
          <p:cNvPr id="8" name="screenshot" descr="/tmp/claude-0/-home-user/11b98046-3116-585b-b221-e5c2e170e62a/scratchpad/deck/bshots/01b_home_kpi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874520"/>
            <a:ext cx="6675120" cy="3754755"/>
          </a:xfrm>
          <a:prstGeom prst="rect">
            <a:avLst/>
          </a:prstGeom>
        </p:spPr>
      </p:pic>
      <p:sp>
        <p:nvSpPr>
          <p:cNvPr id="9" name="num-1"/>
          <p:cNvSpPr/>
          <p:nvPr/>
        </p:nvSpPr>
        <p:spPr>
          <a:xfrm>
            <a:off x="11219688" y="1865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219688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1847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المؤشرات</a:t>
            </a:r>
            <a:endParaRPr lang="ar-AE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183880" y="2231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نسبة المصادر المتحقق منها، والادعاءات الموثّقة، وسلامة أصول الخزنة، والكلفة.</a:t>
            </a:r>
            <a:endParaRPr lang="ar-AE" sz="1400" dirty="0"/>
          </a:p>
        </p:txBody>
      </p:sp>
      <p:sp>
        <p:nvSpPr>
          <p:cNvPr id="13" name="num-2"/>
          <p:cNvSpPr/>
          <p:nvPr/>
        </p:nvSpPr>
        <p:spPr>
          <a:xfrm>
            <a:off x="11219688" y="3008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219688" y="3008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183880" y="2990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خط الأساس</a:t>
            </a:r>
            <a:endParaRPr lang="ar-AE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3374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يثبّته المؤلف بإقرار صريح (</a:t>
            </a:r>
            <a:r>
              <a:rPr lang="ar-AE" altLang="en-US" sz="1400" dirty="0">
                <a:solidFill>
                  <a:schemeClr val="tx1"/>
                </a:solidFill>
                <a:latin typeface="Calibri"/>
                <a:cs typeface="Calibri"/>
              </a:rPr>
              <a:t>L4</a:t>
            </a: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)، ولا مستهدف قبله.</a:t>
            </a:r>
            <a:endParaRPr lang="ar-AE" sz="1400" dirty="0"/>
          </a:p>
        </p:txBody>
      </p:sp>
      <p:sp>
        <p:nvSpPr>
          <p:cNvPr id="17" name="num-3"/>
          <p:cNvSpPr/>
          <p:nvPr/>
        </p:nvSpPr>
        <p:spPr>
          <a:xfrm>
            <a:off x="11219688" y="4151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1219688" y="4151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183880" y="4133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الإدارات التخصصية</a:t>
            </a:r>
            <a:endParaRPr lang="ar-AE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183880" y="4517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خمس إدارات، لكل منها أجناسها ووكلاؤها.</a:t>
            </a:r>
            <a:endParaRPr lang="ar-AE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>
                <a:latin typeface="Calibri"/>
                <a:cs typeface="Calibri"/>
              </a:rPr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AE" altLang="en-US" sz="3200" b="1" dirty="0">
                <a:solidFill>
                  <a:schemeClr val="accent1"/>
                </a:solidFill>
                <a:latin typeface="Noto Naskh Arabic"/>
                <a:cs typeface="adwa-assalaf"/>
              </a:rPr>
              <a:t>المشاريع</a:t>
            </a:r>
            <a:endParaRPr lang="ar-AE" sz="3200" dirty="0"/>
          </a:p>
        </p:txBody>
      </p:sp>
      <p:sp>
        <p:nvSpPr>
          <p:cNvPr id="3" name="role-band"/>
          <p:cNvSpPr/>
          <p:nvPr/>
        </p:nvSpPr>
        <p:spPr>
          <a:xfrm>
            <a:off x="548640" y="1161288"/>
            <a:ext cx="11091672" cy="530352"/>
          </a:xfrm>
          <a:prstGeom prst="roundRect">
            <a:avLst>
              <a:gd name="adj" fmla="val 13793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48872" y="1161288"/>
            <a:ext cx="91440" cy="5303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0" y="1161288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500" b="1" dirty="0">
                <a:solidFill>
                  <a:srgbClr val="B8860B"/>
                </a:solidFill>
                <a:latin typeface="Noto Naskh Arabic"/>
                <a:cs typeface="adwa-assalaf"/>
              </a:rPr>
              <a:t>دور الشاشة:</a:t>
            </a:r>
            <a:endParaRPr lang="ar-AE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161288"/>
            <a:ext cx="9857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500" dirty="0">
                <a:solidFill>
                  <a:srgbClr val="12263F"/>
                </a:solidFill>
                <a:latin typeface="Noto Naskh Arabic"/>
                <a:cs typeface="adwa-assalaf"/>
              </a:rPr>
              <a:t>سجل المشاريع في مكان واحد: أين وصل كل مشروع، وما المطلوب فيه الآن</a:t>
            </a:r>
            <a:endParaRPr lang="ar-AE" sz="1500" dirty="0"/>
          </a:p>
        </p:txBody>
      </p:sp>
      <p:sp>
        <p:nvSpPr>
          <p:cNvPr id="7" name="screen-frame"/>
          <p:cNvSpPr/>
          <p:nvPr/>
        </p:nvSpPr>
        <p:spPr>
          <a:xfrm>
            <a:off x="1133856" y="1819656"/>
            <a:ext cx="6784848" cy="3864483"/>
          </a:xfrm>
          <a:prstGeom prst="roundRect">
            <a:avLst>
              <a:gd name="adj" fmla="val 1893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2263F">
                <a:alpha val="18000"/>
              </a:srgbClr>
            </a:outerShdw>
          </a:effectLst>
        </p:spPr>
      </p:sp>
      <p:pic>
        <p:nvPicPr>
          <p:cNvPr id="8" name="screenshot" descr="/tmp/claude-0/-home-user/11b98046-3116-585b-b221-e5c2e170e62a/scratchpad/deck/bshots/02_projec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874520"/>
            <a:ext cx="6675120" cy="3754755"/>
          </a:xfrm>
          <a:prstGeom prst="rect">
            <a:avLst/>
          </a:prstGeom>
        </p:spPr>
      </p:pic>
      <p:sp>
        <p:nvSpPr>
          <p:cNvPr id="9" name="num-1"/>
          <p:cNvSpPr/>
          <p:nvPr/>
        </p:nvSpPr>
        <p:spPr>
          <a:xfrm>
            <a:off x="11219688" y="1865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219688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1847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الجدول</a:t>
            </a:r>
            <a:endParaRPr lang="ar-AE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183880" y="2231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المعرّف والعنوان والنوع والمرحلة ونسبة الإنجاز والإجراء التالي.</a:t>
            </a:r>
            <a:endParaRPr lang="ar-AE" sz="1400" dirty="0"/>
          </a:p>
        </p:txBody>
      </p:sp>
      <p:sp>
        <p:nvSpPr>
          <p:cNvPr id="13" name="num-2"/>
          <p:cNvSpPr/>
          <p:nvPr/>
        </p:nvSpPr>
        <p:spPr>
          <a:xfrm>
            <a:off x="11219688" y="3008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219688" y="3008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183880" y="2990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فتح المشروع</a:t>
            </a:r>
            <a:endParaRPr lang="ar-AE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3374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زر «افتح» ينقلكم إلى صفحته الكاملة.</a:t>
            </a:r>
            <a:endParaRPr lang="ar-AE" sz="1400" dirty="0"/>
          </a:p>
        </p:txBody>
      </p:sp>
      <p:sp>
        <p:nvSpPr>
          <p:cNvPr id="17" name="num-3"/>
          <p:cNvSpPr/>
          <p:nvPr/>
        </p:nvSpPr>
        <p:spPr>
          <a:xfrm>
            <a:off x="11219688" y="4151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1219688" y="4151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183880" y="4133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مشروع جديد</a:t>
            </a:r>
            <a:endParaRPr lang="ar-AE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183880" y="4517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الزر الذهبي أعلى الجدول.</a:t>
            </a:r>
            <a:endParaRPr lang="ar-AE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766435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200" i="1" dirty="0">
                <a:solidFill>
                  <a:schemeClr val="tx2"/>
                </a:solidFill>
                <a:latin typeface="Noto Naskh Arabic"/>
                <a:cs typeface="adwa-assalaf"/>
              </a:rPr>
              <a:t>مشروعان تجريبيان أُنشئا لأغراض العرض.</a:t>
            </a:r>
            <a:endParaRPr lang="ar-AE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>
                <a:latin typeface="Calibri"/>
                <a:cs typeface="Calibri"/>
              </a:rPr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AE" altLang="en-US" sz="3200" b="1" dirty="0">
                <a:solidFill>
                  <a:schemeClr val="accent1"/>
                </a:solidFill>
                <a:latin typeface="Noto Naskh Arabic"/>
                <a:cs typeface="adwa-assalaf"/>
              </a:rPr>
              <a:t>مشروع جديد</a:t>
            </a:r>
            <a:endParaRPr lang="ar-AE" sz="3200" dirty="0"/>
          </a:p>
        </p:txBody>
      </p:sp>
      <p:sp>
        <p:nvSpPr>
          <p:cNvPr id="3" name="role-band"/>
          <p:cNvSpPr/>
          <p:nvPr/>
        </p:nvSpPr>
        <p:spPr>
          <a:xfrm>
            <a:off x="548640" y="1161288"/>
            <a:ext cx="11091672" cy="530352"/>
          </a:xfrm>
          <a:prstGeom prst="roundRect">
            <a:avLst>
              <a:gd name="adj" fmla="val 13793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48872" y="1161288"/>
            <a:ext cx="91440" cy="5303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0" y="1161288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500" b="1" dirty="0">
                <a:solidFill>
                  <a:srgbClr val="B8860B"/>
                </a:solidFill>
                <a:latin typeface="Noto Naskh Arabic"/>
                <a:cs typeface="adwa-assalaf"/>
              </a:rPr>
              <a:t>دور الشاشة:</a:t>
            </a:r>
            <a:endParaRPr lang="ar-AE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161288"/>
            <a:ext cx="9857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500" dirty="0">
                <a:solidFill>
                  <a:srgbClr val="12263F"/>
                </a:solidFill>
                <a:latin typeface="Noto Naskh Arabic"/>
                <a:cs typeface="adwa-assalaf"/>
              </a:rPr>
              <a:t>تنشئ المشروع وتختار سير عمله ووكلاءه من ثلاثة أسئلة: الإدارة والنوع والمستوى</a:t>
            </a:r>
            <a:endParaRPr lang="ar-AE" sz="1500" dirty="0"/>
          </a:p>
        </p:txBody>
      </p:sp>
      <p:sp>
        <p:nvSpPr>
          <p:cNvPr id="7" name="screen-frame"/>
          <p:cNvSpPr/>
          <p:nvPr/>
        </p:nvSpPr>
        <p:spPr>
          <a:xfrm>
            <a:off x="1133856" y="1819656"/>
            <a:ext cx="6784848" cy="3864483"/>
          </a:xfrm>
          <a:prstGeom prst="roundRect">
            <a:avLst>
              <a:gd name="adj" fmla="val 1893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2263F">
                <a:alpha val="18000"/>
              </a:srgbClr>
            </a:outerShdw>
          </a:effectLst>
        </p:spPr>
      </p:sp>
      <p:pic>
        <p:nvPicPr>
          <p:cNvPr id="8" name="screenshot" descr="/tmp/claude-0/-home-user/11b98046-3116-585b-b221-e5c2e170e62a/scratchpad/deck/bshots/03_newprojec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874520"/>
            <a:ext cx="6675120" cy="3754755"/>
          </a:xfrm>
          <a:prstGeom prst="rect">
            <a:avLst/>
          </a:prstGeom>
        </p:spPr>
      </p:pic>
      <p:sp>
        <p:nvSpPr>
          <p:cNvPr id="9" name="num-1"/>
          <p:cNvSpPr/>
          <p:nvPr/>
        </p:nvSpPr>
        <p:spPr>
          <a:xfrm>
            <a:off x="11219688" y="1865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219688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1847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الإدارة</a:t>
            </a:r>
            <a:endParaRPr lang="ar-AE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183880" y="2231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تختارون الإدارة التخصصية أولاً.</a:t>
            </a:r>
            <a:endParaRPr lang="ar-AE" sz="1400" dirty="0"/>
          </a:p>
        </p:txBody>
      </p:sp>
      <p:sp>
        <p:nvSpPr>
          <p:cNvPr id="13" name="num-2"/>
          <p:cNvSpPr/>
          <p:nvPr/>
        </p:nvSpPr>
        <p:spPr>
          <a:xfrm>
            <a:off x="11219688" y="3008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219688" y="3008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183880" y="2990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نوع العمل والعنوان</a:t>
            </a:r>
            <a:endParaRPr lang="ar-AE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3374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يحدد النوع سير العمل والوكلاء المستدعَين.</a:t>
            </a:r>
            <a:endParaRPr lang="ar-AE" sz="1400" dirty="0"/>
          </a:p>
        </p:txBody>
      </p:sp>
      <p:sp>
        <p:nvSpPr>
          <p:cNvPr id="17" name="num-3"/>
          <p:cNvSpPr/>
          <p:nvPr/>
        </p:nvSpPr>
        <p:spPr>
          <a:xfrm>
            <a:off x="11219688" y="4151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1219688" y="4151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183880" y="4133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مستوى الإنتاج</a:t>
            </a:r>
            <a:endParaRPr lang="ar-AE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183880" y="4517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الهيكل، أو التدرجي وحدة بعد وحدة، أو الكامل دفعة واحدة.</a:t>
            </a:r>
            <a:endParaRPr lang="ar-AE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>
                <a:latin typeface="Calibri"/>
                <a:cs typeface="Calibri"/>
              </a:rPr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AE" altLang="en-US" sz="3200" b="1" dirty="0">
                <a:solidFill>
                  <a:schemeClr val="accent1"/>
                </a:solidFill>
                <a:latin typeface="Noto Naskh Arabic"/>
                <a:cs typeface="adwa-assalaf"/>
              </a:rPr>
              <a:t>صفحة المشروع ولوحة الإشارات</a:t>
            </a:r>
            <a:endParaRPr lang="ar-AE" sz="3200" dirty="0"/>
          </a:p>
        </p:txBody>
      </p:sp>
      <p:sp>
        <p:nvSpPr>
          <p:cNvPr id="3" name="role-band"/>
          <p:cNvSpPr/>
          <p:nvPr/>
        </p:nvSpPr>
        <p:spPr>
          <a:xfrm>
            <a:off x="548640" y="1161288"/>
            <a:ext cx="11091672" cy="530352"/>
          </a:xfrm>
          <a:prstGeom prst="roundRect">
            <a:avLst>
              <a:gd name="adj" fmla="val 13793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48872" y="1161288"/>
            <a:ext cx="91440" cy="5303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0" y="1161288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500" b="1" dirty="0">
                <a:solidFill>
                  <a:srgbClr val="B8860B"/>
                </a:solidFill>
                <a:latin typeface="Noto Naskh Arabic"/>
                <a:cs typeface="adwa-assalaf"/>
              </a:rPr>
              <a:t>دور الشاشة:</a:t>
            </a:r>
            <a:endParaRPr lang="ar-AE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161288"/>
            <a:ext cx="9857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500" dirty="0">
                <a:solidFill>
                  <a:srgbClr val="12263F"/>
                </a:solidFill>
                <a:latin typeface="Noto Naskh Arabic"/>
                <a:cs typeface="adwa-assalaf"/>
              </a:rPr>
              <a:t>غرفة القيادة للمشروع: العمل التالي ومن ينفذه، والتشغيل والإيقاف، والنص وهو يُكتب</a:t>
            </a:r>
            <a:endParaRPr lang="ar-AE" sz="1500" dirty="0"/>
          </a:p>
        </p:txBody>
      </p:sp>
      <p:sp>
        <p:nvSpPr>
          <p:cNvPr id="7" name="screen-frame"/>
          <p:cNvSpPr/>
          <p:nvPr/>
        </p:nvSpPr>
        <p:spPr>
          <a:xfrm>
            <a:off x="1133856" y="1819656"/>
            <a:ext cx="6784848" cy="3864483"/>
          </a:xfrm>
          <a:prstGeom prst="roundRect">
            <a:avLst>
              <a:gd name="adj" fmla="val 1893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2263F">
                <a:alpha val="18000"/>
              </a:srgbClr>
            </a:outerShdw>
          </a:effectLst>
        </p:spPr>
      </p:sp>
      <p:pic>
        <p:nvPicPr>
          <p:cNvPr id="8" name="screenshot" descr="/tmp/claude-0/-home-user/11b98046-3116-585b-b221-e5c2e170e62a/scratchpad/deck/bshots/04_projec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874520"/>
            <a:ext cx="6675120" cy="3754755"/>
          </a:xfrm>
          <a:prstGeom prst="rect">
            <a:avLst/>
          </a:prstGeom>
        </p:spPr>
      </p:pic>
      <p:sp>
        <p:nvSpPr>
          <p:cNvPr id="9" name="num-1"/>
          <p:cNvSpPr/>
          <p:nvPr/>
        </p:nvSpPr>
        <p:spPr>
          <a:xfrm>
            <a:off x="11219688" y="1865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219688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1847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الإجراء التالي</a:t>
            </a:r>
            <a:endParaRPr lang="ar-AE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183880" y="2231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المهمة القادمة ووكيلها، وزر تشغيلها بالمحرك المختار.</a:t>
            </a:r>
            <a:endParaRPr lang="ar-AE" sz="1400" dirty="0"/>
          </a:p>
        </p:txBody>
      </p:sp>
      <p:sp>
        <p:nvSpPr>
          <p:cNvPr id="13" name="num-2"/>
          <p:cNvSpPr/>
          <p:nvPr/>
        </p:nvSpPr>
        <p:spPr>
          <a:xfrm>
            <a:off x="11219688" y="3008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219688" y="3008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183880" y="2990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لوحة الإشارات</a:t>
            </a:r>
            <a:endParaRPr lang="ar-AE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3374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تشغيل وإيقاف، وإنجاز الخطة، والوكيل التالي، وسير العملية.</a:t>
            </a:r>
            <a:endParaRPr lang="ar-AE" sz="1400" dirty="0"/>
          </a:p>
        </p:txBody>
      </p:sp>
      <p:sp>
        <p:nvSpPr>
          <p:cNvPr id="17" name="num-3"/>
          <p:cNvSpPr/>
          <p:nvPr/>
        </p:nvSpPr>
        <p:spPr>
          <a:xfrm>
            <a:off x="11219688" y="4151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1219688" y="4151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183880" y="4133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الشاشة الجانبية</a:t>
            </a:r>
            <a:endParaRPr lang="ar-AE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183880" y="4517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النص الجاري الآن، وملاحظة تُمرَّر للوكلاء دون إيقاف العمل.</a:t>
            </a:r>
            <a:endParaRPr lang="ar-AE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>
                <a:latin typeface="Calibri"/>
                <a:cs typeface="Calibri"/>
              </a:rPr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AE" altLang="en-US" sz="32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التشغيل الآلي</a:t>
            </a:r>
            <a:endParaRPr lang="ar-AE" sz="3200" dirty="0"/>
          </a:p>
        </p:txBody>
      </p:sp>
      <p:sp>
        <p:nvSpPr>
          <p:cNvPr id="3" name="role-band"/>
          <p:cNvSpPr/>
          <p:nvPr/>
        </p:nvSpPr>
        <p:spPr>
          <a:xfrm>
            <a:off x="548640" y="1161288"/>
            <a:ext cx="11091672" cy="530352"/>
          </a:xfrm>
          <a:prstGeom prst="roundRect">
            <a:avLst>
              <a:gd name="adj" fmla="val 13793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48872" y="1161288"/>
            <a:ext cx="91440" cy="5303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0" y="1161288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500" b="1" dirty="0">
                <a:solidFill>
                  <a:srgbClr val="B8860B"/>
                </a:solidFill>
                <a:latin typeface="Noto Naskh Arabic"/>
                <a:cs typeface="adwa-assalaf"/>
              </a:rPr>
              <a:t>دور الشاشة:</a:t>
            </a:r>
            <a:endParaRPr lang="ar-AE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161288"/>
            <a:ext cx="9857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500" dirty="0">
                <a:solidFill>
                  <a:srgbClr val="12263F"/>
                </a:solidFill>
                <a:latin typeface="Noto Naskh Arabic"/>
                <a:cs typeface="adwa-assalaf"/>
              </a:rPr>
              <a:t>يشغّل الوكلاء تباعاً على المشروع كله، ويتوقفون عند قراركم</a:t>
            </a:r>
            <a:endParaRPr lang="ar-AE" sz="1500" dirty="0"/>
          </a:p>
        </p:txBody>
      </p:sp>
      <p:sp>
        <p:nvSpPr>
          <p:cNvPr id="7" name="screen-frame"/>
          <p:cNvSpPr/>
          <p:nvPr/>
        </p:nvSpPr>
        <p:spPr>
          <a:xfrm>
            <a:off x="1133856" y="1819656"/>
            <a:ext cx="6784848" cy="3864483"/>
          </a:xfrm>
          <a:prstGeom prst="roundRect">
            <a:avLst>
              <a:gd name="adj" fmla="val 1893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2263F">
                <a:alpha val="18000"/>
              </a:srgbClr>
            </a:outerShdw>
          </a:effectLst>
        </p:spPr>
      </p:sp>
      <p:pic>
        <p:nvPicPr>
          <p:cNvPr id="8" name="screenshot" descr="/tmp/claude-0/-home-user/11b98046-3116-585b-b221-e5c2e170e62a/scratchpad/deck/bshots/04c_autopilo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874520"/>
            <a:ext cx="6675120" cy="3754755"/>
          </a:xfrm>
          <a:prstGeom prst="rect">
            <a:avLst/>
          </a:prstGeom>
        </p:spPr>
      </p:pic>
      <p:sp>
        <p:nvSpPr>
          <p:cNvPr id="9" name="num-1"/>
          <p:cNvSpPr/>
          <p:nvPr/>
        </p:nvSpPr>
        <p:spPr>
          <a:xfrm>
            <a:off x="11219688" y="1865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219688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1847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الوضع المباشر</a:t>
            </a:r>
            <a:endParaRPr lang="ar-AE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183880" y="2231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يكتب الوكلاء العمل كاملاً ويضبطونه، ثم يعرضونه عليكم مرة واحدة للاعتماد.</a:t>
            </a:r>
            <a:endParaRPr lang="ar-AE" sz="1400" dirty="0"/>
          </a:p>
        </p:txBody>
      </p:sp>
      <p:sp>
        <p:nvSpPr>
          <p:cNvPr id="13" name="num-2"/>
          <p:cNvSpPr/>
          <p:nvPr/>
        </p:nvSpPr>
        <p:spPr>
          <a:xfrm>
            <a:off x="11219688" y="3008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219688" y="3008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183880" y="2990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الوضع الموجَّه</a:t>
            </a:r>
            <a:endParaRPr lang="ar-AE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3374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يتوقف الوكلاء عند كل قرار مرحلي ويعرضونه عليكم بخيارات جاهزة.</a:t>
            </a:r>
            <a:endParaRPr lang="ar-AE" sz="1400" dirty="0"/>
          </a:p>
        </p:txBody>
      </p:sp>
      <p:sp>
        <p:nvSpPr>
          <p:cNvPr id="17" name="num-3"/>
          <p:cNvSpPr/>
          <p:nvPr/>
        </p:nvSpPr>
        <p:spPr>
          <a:xfrm>
            <a:off x="11219688" y="4151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1219688" y="4151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183880" y="4133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الإيقاف الفوري</a:t>
            </a:r>
            <a:endParaRPr lang="ar-AE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183880" y="4517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من لوحة الإشارات في أي لحظة.</a:t>
            </a:r>
            <a:endParaRPr lang="ar-AE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>
                <a:latin typeface="Calibri"/>
                <a:cs typeface="Calibri"/>
              </a:rPr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AE" altLang="en-US" sz="3200" b="1" dirty="0">
                <a:solidFill>
                  <a:schemeClr val="accent1"/>
                </a:solidFill>
                <a:latin typeface="Noto Naskh Arabic"/>
                <a:cs typeface="adwa-assalaf"/>
              </a:rPr>
              <a:t>خطة الحوكمة</a:t>
            </a:r>
            <a:endParaRPr lang="ar-AE" sz="3200" dirty="0"/>
          </a:p>
        </p:txBody>
      </p:sp>
      <p:sp>
        <p:nvSpPr>
          <p:cNvPr id="3" name="role-band"/>
          <p:cNvSpPr/>
          <p:nvPr/>
        </p:nvSpPr>
        <p:spPr>
          <a:xfrm>
            <a:off x="548640" y="1161288"/>
            <a:ext cx="11091672" cy="530352"/>
          </a:xfrm>
          <a:prstGeom prst="roundRect">
            <a:avLst>
              <a:gd name="adj" fmla="val 13793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48872" y="1161288"/>
            <a:ext cx="91440" cy="5303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0" y="1161288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500" b="1" dirty="0">
                <a:solidFill>
                  <a:srgbClr val="B8860B"/>
                </a:solidFill>
                <a:latin typeface="Noto Naskh Arabic"/>
                <a:cs typeface="adwa-assalaf"/>
              </a:rPr>
              <a:t>دور الشاشة:</a:t>
            </a:r>
            <a:endParaRPr lang="ar-AE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161288"/>
            <a:ext cx="9857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500" dirty="0">
                <a:solidFill>
                  <a:srgbClr val="12263F"/>
                </a:solidFill>
                <a:latin typeface="Noto Naskh Arabic"/>
                <a:cs typeface="adwa-assalaf"/>
              </a:rPr>
              <a:t>خريطة المشروع: كل مهمة بوكيلها وصلاحيتها وبوابتها، ومنها التشغيل والاعتماد</a:t>
            </a:r>
            <a:endParaRPr lang="ar-AE" sz="1500" dirty="0"/>
          </a:p>
        </p:txBody>
      </p:sp>
      <p:sp>
        <p:nvSpPr>
          <p:cNvPr id="7" name="screen-frame"/>
          <p:cNvSpPr/>
          <p:nvPr/>
        </p:nvSpPr>
        <p:spPr>
          <a:xfrm>
            <a:off x="1133856" y="1819656"/>
            <a:ext cx="6784848" cy="3864483"/>
          </a:xfrm>
          <a:prstGeom prst="roundRect">
            <a:avLst>
              <a:gd name="adj" fmla="val 1893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2263F">
                <a:alpha val="18000"/>
              </a:srgbClr>
            </a:outerShdw>
          </a:effectLst>
        </p:spPr>
      </p:sp>
      <p:pic>
        <p:nvPicPr>
          <p:cNvPr id="8" name="screenshot" descr="/tmp/claude-0/-home-user/11b98046-3116-585b-b221-e5c2e170e62a/scratchpad/deck/bshots/04d_pla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874520"/>
            <a:ext cx="6675120" cy="3754755"/>
          </a:xfrm>
          <a:prstGeom prst="rect">
            <a:avLst/>
          </a:prstGeom>
        </p:spPr>
      </p:pic>
      <p:sp>
        <p:nvSpPr>
          <p:cNvPr id="9" name="num-1"/>
          <p:cNvSpPr/>
          <p:nvPr/>
        </p:nvSpPr>
        <p:spPr>
          <a:xfrm>
            <a:off x="11219688" y="1865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219688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1847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كل مهمة</a:t>
            </a:r>
            <a:endParaRPr lang="ar-AE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183880" y="2231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الوكيل والمهمة ومستوى الصلاحية (</a:t>
            </a:r>
            <a:r>
              <a:rPr lang="ar-AE" altLang="en-US" sz="1400" dirty="0">
                <a:solidFill>
                  <a:schemeClr val="tx1"/>
                </a:solidFill>
                <a:latin typeface="Calibri"/>
                <a:cs typeface="Calibri"/>
              </a:rPr>
              <a:t>L1</a:t>
            </a: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 ذاتي للوكيل، </a:t>
            </a:r>
            <a:r>
              <a:rPr lang="ar-AE" altLang="en-US" sz="1400" dirty="0">
                <a:solidFill>
                  <a:schemeClr val="tx1"/>
                </a:solidFill>
                <a:latin typeface="Calibri"/>
                <a:cs typeface="Calibri"/>
              </a:rPr>
              <a:t>L4</a:t>
            </a: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 موافقة المؤلف).</a:t>
            </a:r>
            <a:endParaRPr lang="ar-AE" sz="1400" dirty="0"/>
          </a:p>
        </p:txBody>
      </p:sp>
      <p:sp>
        <p:nvSpPr>
          <p:cNvPr id="13" name="num-2"/>
          <p:cNvSpPr/>
          <p:nvPr/>
        </p:nvSpPr>
        <p:spPr>
          <a:xfrm>
            <a:off x="11219688" y="3008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219688" y="3008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183880" y="2990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البوابات</a:t>
            </a:r>
            <a:endParaRPr lang="ar-AE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3374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Calibri"/>
                <a:cs typeface="Calibri"/>
              </a:rPr>
              <a:t>QG0</a:t>
            </a: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 فما بعدها: لا تنتقل الخطة قبل اجتياز بوابتها.</a:t>
            </a:r>
            <a:endParaRPr lang="ar-AE" sz="1400" dirty="0"/>
          </a:p>
        </p:txBody>
      </p:sp>
      <p:sp>
        <p:nvSpPr>
          <p:cNvPr id="17" name="num-3"/>
          <p:cNvSpPr/>
          <p:nvPr/>
        </p:nvSpPr>
        <p:spPr>
          <a:xfrm>
            <a:off x="11219688" y="4151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1219688" y="4151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183880" y="4133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الإجراءات</a:t>
            </a:r>
            <a:endParaRPr lang="ar-AE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183880" y="4517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تشغيل، وتسجيل مخرج، واعتماد.</a:t>
            </a:r>
            <a:endParaRPr lang="ar-AE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>
                <a:latin typeface="Calibri"/>
                <a:cs typeface="Calibri"/>
              </a:rPr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AE" altLang="en-US" sz="32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التشغيل في الوضع اليدوي</a:t>
            </a:r>
            <a:endParaRPr lang="ar-AE" sz="3200" dirty="0"/>
          </a:p>
        </p:txBody>
      </p:sp>
      <p:sp>
        <p:nvSpPr>
          <p:cNvPr id="3" name="role-band"/>
          <p:cNvSpPr/>
          <p:nvPr/>
        </p:nvSpPr>
        <p:spPr>
          <a:xfrm>
            <a:off x="548640" y="1161288"/>
            <a:ext cx="11091672" cy="530352"/>
          </a:xfrm>
          <a:prstGeom prst="roundRect">
            <a:avLst>
              <a:gd name="adj" fmla="val 13793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48872" y="1161288"/>
            <a:ext cx="91440" cy="5303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0" y="1161288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500" b="1" dirty="0">
                <a:solidFill>
                  <a:srgbClr val="B8860B"/>
                </a:solidFill>
                <a:latin typeface="Noto Naskh Arabic"/>
                <a:cs typeface="adwa-assalaf"/>
              </a:rPr>
              <a:t>دور الشاشة:</a:t>
            </a:r>
            <a:endParaRPr lang="ar-AE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161288"/>
            <a:ext cx="9857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500" dirty="0">
                <a:solidFill>
                  <a:srgbClr val="12263F"/>
                </a:solidFill>
                <a:latin typeface="Noto Naskh Arabic"/>
                <a:cs typeface="adwa-assalaf"/>
              </a:rPr>
              <a:t>الطريق المتاح دائماً بلا مفتاح: حزمة تكليف كاملة تنقلونها إلى </a:t>
            </a:r>
            <a:r>
              <a:rPr lang="ar-AE" altLang="en-US" sz="1500" dirty="0">
                <a:solidFill>
                  <a:srgbClr val="12263F"/>
                </a:solidFill>
                <a:latin typeface="Calibri"/>
                <a:cs typeface="Calibri"/>
              </a:rPr>
              <a:t>Claude</a:t>
            </a:r>
            <a:r>
              <a:rPr lang="ar-AE" altLang="en-US" sz="1500" dirty="0">
                <a:solidFill>
                  <a:srgbClr val="12263F"/>
                </a:solidFill>
                <a:latin typeface="Noto Naskh Arabic"/>
                <a:cs typeface="adwa-assalaf"/>
              </a:rPr>
              <a:t> وتعيدون رده إلى المشروع</a:t>
            </a:r>
            <a:endParaRPr lang="ar-AE" sz="1500" dirty="0"/>
          </a:p>
        </p:txBody>
      </p:sp>
      <p:sp>
        <p:nvSpPr>
          <p:cNvPr id="7" name="screen-frame"/>
          <p:cNvSpPr/>
          <p:nvPr/>
        </p:nvSpPr>
        <p:spPr>
          <a:xfrm>
            <a:off x="1133856" y="1819656"/>
            <a:ext cx="6784848" cy="3864483"/>
          </a:xfrm>
          <a:prstGeom prst="roundRect">
            <a:avLst>
              <a:gd name="adj" fmla="val 1893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2263F">
                <a:alpha val="18000"/>
              </a:srgbClr>
            </a:outerShdw>
          </a:effectLst>
        </p:spPr>
      </p:sp>
      <p:pic>
        <p:nvPicPr>
          <p:cNvPr id="8" name="screenshot" descr="/tmp/claude-0/-home-user/11b98046-3116-585b-b221-e5c2e170e62a/scratchpad/deck/bshots/06_runste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874520"/>
            <a:ext cx="6675120" cy="3754755"/>
          </a:xfrm>
          <a:prstGeom prst="rect">
            <a:avLst/>
          </a:prstGeom>
        </p:spPr>
      </p:pic>
      <p:sp>
        <p:nvSpPr>
          <p:cNvPr id="9" name="num-1"/>
          <p:cNvSpPr/>
          <p:nvPr/>
        </p:nvSpPr>
        <p:spPr>
          <a:xfrm>
            <a:off x="11219688" y="1865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219688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1847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حزمة البرومبت</a:t>
            </a:r>
            <a:endParaRPr lang="ar-AE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183880" y="2231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تُعدّها اللوحة كاملة بعقد الأسلوب والسياق.</a:t>
            </a:r>
            <a:endParaRPr lang="ar-AE" sz="1400" dirty="0"/>
          </a:p>
        </p:txBody>
      </p:sp>
      <p:sp>
        <p:nvSpPr>
          <p:cNvPr id="13" name="num-2"/>
          <p:cNvSpPr/>
          <p:nvPr/>
        </p:nvSpPr>
        <p:spPr>
          <a:xfrm>
            <a:off x="11219688" y="3008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219688" y="3008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183880" y="2990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انسخ وافتح </a:t>
            </a:r>
            <a:r>
              <a:rPr lang="ar-AE" altLang="en-US" sz="1600" b="1" dirty="0">
                <a:solidFill>
                  <a:schemeClr val="accent1"/>
                </a:solidFill>
                <a:latin typeface="Calibri"/>
                <a:cs typeface="Calibri"/>
              </a:rPr>
              <a:t>Claude</a:t>
            </a:r>
            <a:endParaRPr lang="ar-AE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3374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نقرة تنسخ الحزمة وتفتح </a:t>
            </a:r>
            <a:r>
              <a:rPr lang="ar-AE" altLang="en-US" sz="1400" dirty="0">
                <a:solidFill>
                  <a:schemeClr val="tx1"/>
                </a:solidFill>
                <a:latin typeface="Calibri"/>
                <a:cs typeface="Calibri"/>
              </a:rPr>
              <a:t>claude.ai</a:t>
            </a: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، أو تنزيلها ملفاً.</a:t>
            </a:r>
            <a:endParaRPr lang="ar-AE" sz="1400" dirty="0"/>
          </a:p>
        </p:txBody>
      </p:sp>
      <p:sp>
        <p:nvSpPr>
          <p:cNvPr id="17" name="num-3"/>
          <p:cNvSpPr/>
          <p:nvPr/>
        </p:nvSpPr>
        <p:spPr>
          <a:xfrm>
            <a:off x="11219688" y="4151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1219688" y="4151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183880" y="4133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تسجيل المخرج</a:t>
            </a:r>
            <a:endParaRPr lang="ar-AE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183880" y="4517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تلصقون الرد فيُسجَّل ويُفحص.</a:t>
            </a:r>
            <a:endParaRPr lang="ar-AE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>
                <a:latin typeface="Calibri"/>
                <a:cs typeface="Calibri"/>
              </a:rPr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AE" altLang="en-US" sz="3200" b="1" dirty="0">
                <a:solidFill>
                  <a:schemeClr val="accent1"/>
                </a:solidFill>
                <a:latin typeface="Noto Naskh Arabic"/>
                <a:cs typeface="adwa-assalaf"/>
              </a:rPr>
              <a:t>بناء العمل</a:t>
            </a:r>
            <a:endParaRPr lang="ar-AE" sz="3200" dirty="0"/>
          </a:p>
        </p:txBody>
      </p:sp>
      <p:sp>
        <p:nvSpPr>
          <p:cNvPr id="3" name="role-band"/>
          <p:cNvSpPr/>
          <p:nvPr/>
        </p:nvSpPr>
        <p:spPr>
          <a:xfrm>
            <a:off x="548640" y="1161288"/>
            <a:ext cx="11091672" cy="530352"/>
          </a:xfrm>
          <a:prstGeom prst="roundRect">
            <a:avLst>
              <a:gd name="adj" fmla="val 13793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48872" y="1161288"/>
            <a:ext cx="91440" cy="5303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0" y="1161288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500" b="1" dirty="0">
                <a:solidFill>
                  <a:srgbClr val="B8860B"/>
                </a:solidFill>
                <a:latin typeface="Noto Naskh Arabic"/>
                <a:cs typeface="adwa-assalaf"/>
              </a:rPr>
              <a:t>دور الشاشة:</a:t>
            </a:r>
            <a:endParaRPr lang="ar-AE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161288"/>
            <a:ext cx="9857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500" dirty="0">
                <a:solidFill>
                  <a:srgbClr val="12263F"/>
                </a:solidFill>
                <a:latin typeface="Noto Naskh Arabic"/>
                <a:cs typeface="adwa-assalaf"/>
              </a:rPr>
              <a:t>لوحة العمل: بطاقته ثم مخططه وحدة وحدة، ولا تبدأ الكتابة قبل اعتماده</a:t>
            </a:r>
            <a:endParaRPr lang="ar-AE" sz="1500" dirty="0"/>
          </a:p>
        </p:txBody>
      </p:sp>
      <p:sp>
        <p:nvSpPr>
          <p:cNvPr id="7" name="screen-frame"/>
          <p:cNvSpPr/>
          <p:nvPr/>
        </p:nvSpPr>
        <p:spPr>
          <a:xfrm>
            <a:off x="1133856" y="1819656"/>
            <a:ext cx="6784848" cy="3864483"/>
          </a:xfrm>
          <a:prstGeom prst="roundRect">
            <a:avLst>
              <a:gd name="adj" fmla="val 1893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2263F">
                <a:alpha val="18000"/>
              </a:srgbClr>
            </a:outerShdw>
          </a:effectLst>
        </p:spPr>
      </p:sp>
      <p:pic>
        <p:nvPicPr>
          <p:cNvPr id="8" name="screenshot" descr="/tmp/claude-0/-home-user/11b98046-3116-585b-b221-e5c2e170e62a/scratchpad/deck/bshots/05_boo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874520"/>
            <a:ext cx="6675120" cy="3754755"/>
          </a:xfrm>
          <a:prstGeom prst="rect">
            <a:avLst/>
          </a:prstGeom>
        </p:spPr>
      </p:pic>
      <p:sp>
        <p:nvSpPr>
          <p:cNvPr id="9" name="num-1"/>
          <p:cNvSpPr/>
          <p:nvPr/>
        </p:nvSpPr>
        <p:spPr>
          <a:xfrm>
            <a:off x="11219688" y="1865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219688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1847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بطاقة العمل</a:t>
            </a:r>
            <a:endParaRPr lang="ar-AE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183880" y="2231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الجنس والمستوى وعدد الصفحات والكلمات والوحدات المعتمدة.</a:t>
            </a:r>
            <a:endParaRPr lang="ar-AE" sz="1400" dirty="0"/>
          </a:p>
        </p:txBody>
      </p:sp>
      <p:sp>
        <p:nvSpPr>
          <p:cNvPr id="13" name="num-2"/>
          <p:cNvSpPr/>
          <p:nvPr/>
        </p:nvSpPr>
        <p:spPr>
          <a:xfrm>
            <a:off x="11219688" y="3008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219688" y="3008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183880" y="2990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المخطط</a:t>
            </a:r>
            <a:endParaRPr lang="ar-AE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3374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يقترحه الوكيل، أو تحررونه بأنفسكم، ثم تعتمدونه.</a:t>
            </a:r>
            <a:endParaRPr lang="ar-AE" sz="1400" dirty="0"/>
          </a:p>
        </p:txBody>
      </p:sp>
      <p:sp>
        <p:nvSpPr>
          <p:cNvPr id="17" name="num-3"/>
          <p:cNvSpPr/>
          <p:nvPr/>
        </p:nvSpPr>
        <p:spPr>
          <a:xfrm>
            <a:off x="11219688" y="4151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1219688" y="4151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183880" y="4133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الوحدات</a:t>
            </a:r>
            <a:endParaRPr lang="ar-AE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183880" y="4517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تُكتب وحدة بعد وحدة، ولا يدخل المخطوط إلا ما اعتمدتموه.</a:t>
            </a:r>
            <a:endParaRPr lang="ar-AE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>
                <a:latin typeface="Calibri"/>
                <a:cs typeface="Calibri"/>
              </a:rPr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AE" altLang="en-US" sz="3200" b="1" dirty="0">
                <a:solidFill>
                  <a:schemeClr val="accent1"/>
                </a:solidFill>
                <a:latin typeface="Noto Naskh Arabic"/>
                <a:cs typeface="adwa-assalaf"/>
              </a:rPr>
              <a:t>تحرير المخطط واعتماده</a:t>
            </a:r>
            <a:endParaRPr lang="ar-AE" sz="3200" dirty="0"/>
          </a:p>
        </p:txBody>
      </p:sp>
      <p:sp>
        <p:nvSpPr>
          <p:cNvPr id="3" name="role-band"/>
          <p:cNvSpPr/>
          <p:nvPr/>
        </p:nvSpPr>
        <p:spPr>
          <a:xfrm>
            <a:off x="548640" y="1161288"/>
            <a:ext cx="11091672" cy="530352"/>
          </a:xfrm>
          <a:prstGeom prst="roundRect">
            <a:avLst>
              <a:gd name="adj" fmla="val 13793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48872" y="1161288"/>
            <a:ext cx="91440" cy="5303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0" y="1161288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500" b="1" dirty="0">
                <a:solidFill>
                  <a:srgbClr val="B8860B"/>
                </a:solidFill>
                <a:latin typeface="Noto Naskh Arabic"/>
                <a:cs typeface="adwa-assalaf"/>
              </a:rPr>
              <a:t>دور الشاشة:</a:t>
            </a:r>
            <a:endParaRPr lang="ar-AE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161288"/>
            <a:ext cx="9857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500" dirty="0">
                <a:solidFill>
                  <a:srgbClr val="12263F"/>
                </a:solidFill>
                <a:latin typeface="Noto Naskh Arabic"/>
                <a:cs typeface="adwa-assalaf"/>
              </a:rPr>
              <a:t>تحرير المخطط: عنوان وموجز وطول لكل وحدة، والاعتماد في آخره</a:t>
            </a:r>
            <a:endParaRPr lang="ar-AE" sz="1500" dirty="0"/>
          </a:p>
        </p:txBody>
      </p:sp>
      <p:sp>
        <p:nvSpPr>
          <p:cNvPr id="7" name="screen-frame"/>
          <p:cNvSpPr/>
          <p:nvPr/>
        </p:nvSpPr>
        <p:spPr>
          <a:xfrm>
            <a:off x="1133856" y="1819656"/>
            <a:ext cx="6784848" cy="3864483"/>
          </a:xfrm>
          <a:prstGeom prst="roundRect">
            <a:avLst>
              <a:gd name="adj" fmla="val 1893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2263F">
                <a:alpha val="18000"/>
              </a:srgbClr>
            </a:outerShdw>
          </a:effectLst>
        </p:spPr>
      </p:sp>
      <p:pic>
        <p:nvPicPr>
          <p:cNvPr id="8" name="screenshot" descr="/tmp/claude-0/-home-user/11b98046-3116-585b-b221-e5c2e170e62a/scratchpad/deck/bshots/05b_outlin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874520"/>
            <a:ext cx="6675120" cy="3754755"/>
          </a:xfrm>
          <a:prstGeom prst="rect">
            <a:avLst/>
          </a:prstGeom>
        </p:spPr>
      </p:pic>
      <p:sp>
        <p:nvSpPr>
          <p:cNvPr id="9" name="num-1"/>
          <p:cNvSpPr/>
          <p:nvPr/>
        </p:nvSpPr>
        <p:spPr>
          <a:xfrm>
            <a:off x="11219688" y="1865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219688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1847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العنوان والموجز</a:t>
            </a:r>
            <a:endParaRPr lang="ar-AE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183880" y="2231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لكل وحدة عنوان وموجز.</a:t>
            </a:r>
            <a:endParaRPr lang="ar-AE" sz="1400" dirty="0"/>
          </a:p>
        </p:txBody>
      </p:sp>
      <p:sp>
        <p:nvSpPr>
          <p:cNvPr id="13" name="num-2"/>
          <p:cNvSpPr/>
          <p:nvPr/>
        </p:nvSpPr>
        <p:spPr>
          <a:xfrm>
            <a:off x="11219688" y="3008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219688" y="3008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183880" y="2990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الكلمات</a:t>
            </a:r>
            <a:endParaRPr lang="ar-AE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3374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تُوزَّع آلياً على الطول الكلي، وتُعدَّل يدوياً.</a:t>
            </a:r>
            <a:endParaRPr lang="ar-AE" sz="1400" dirty="0"/>
          </a:p>
        </p:txBody>
      </p:sp>
      <p:sp>
        <p:nvSpPr>
          <p:cNvPr id="17" name="num-3"/>
          <p:cNvSpPr/>
          <p:nvPr/>
        </p:nvSpPr>
        <p:spPr>
          <a:xfrm>
            <a:off x="11219688" y="4151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1219688" y="4151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183880" y="4133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الترتيب</a:t>
            </a:r>
            <a:endParaRPr lang="ar-AE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183880" y="4517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إضافة وحذف ونقل لأعلى.</a:t>
            </a:r>
            <a:endParaRPr lang="ar-AE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>
                <a:latin typeface="Calibri"/>
                <a:cs typeface="Calibri"/>
              </a:rPr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AE" altLang="en-US" sz="3200" b="1" dirty="0">
                <a:solidFill>
                  <a:schemeClr val="accent1"/>
                </a:solidFill>
                <a:latin typeface="Noto Naskh Arabic"/>
                <a:cs typeface="adwa-assalaf"/>
              </a:rPr>
              <a:t>الوكلاء</a:t>
            </a:r>
            <a:endParaRPr lang="ar-AE" sz="3200" dirty="0"/>
          </a:p>
        </p:txBody>
      </p:sp>
      <p:sp>
        <p:nvSpPr>
          <p:cNvPr id="3" name="role-band"/>
          <p:cNvSpPr/>
          <p:nvPr/>
        </p:nvSpPr>
        <p:spPr>
          <a:xfrm>
            <a:off x="548640" y="1161288"/>
            <a:ext cx="11091672" cy="530352"/>
          </a:xfrm>
          <a:prstGeom prst="roundRect">
            <a:avLst>
              <a:gd name="adj" fmla="val 13793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48872" y="1161288"/>
            <a:ext cx="91440" cy="5303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0" y="1161288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500" b="1" dirty="0">
                <a:solidFill>
                  <a:srgbClr val="B8860B"/>
                </a:solidFill>
                <a:latin typeface="Noto Naskh Arabic"/>
                <a:cs typeface="adwa-assalaf"/>
              </a:rPr>
              <a:t>دور الشاشة:</a:t>
            </a:r>
            <a:endParaRPr lang="ar-AE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161288"/>
            <a:ext cx="9857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500" dirty="0">
                <a:solidFill>
                  <a:srgbClr val="12263F"/>
                </a:solidFill>
                <a:latin typeface="Noto Naskh Arabic"/>
                <a:cs typeface="adwa-assalaf"/>
              </a:rPr>
              <a:t>دليل الوكلاء التسعة والثلاثين: لكل وكيل بطاقة، ومنها يُفتح ويُكلَّف</a:t>
            </a:r>
            <a:endParaRPr lang="ar-AE" sz="1500" dirty="0"/>
          </a:p>
        </p:txBody>
      </p:sp>
      <p:sp>
        <p:nvSpPr>
          <p:cNvPr id="7" name="screen-frame"/>
          <p:cNvSpPr/>
          <p:nvPr/>
        </p:nvSpPr>
        <p:spPr>
          <a:xfrm>
            <a:off x="1133856" y="1819656"/>
            <a:ext cx="6784848" cy="3864483"/>
          </a:xfrm>
          <a:prstGeom prst="roundRect">
            <a:avLst>
              <a:gd name="adj" fmla="val 1893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2263F">
                <a:alpha val="18000"/>
              </a:srgbClr>
            </a:outerShdw>
          </a:effectLst>
        </p:spPr>
      </p:sp>
      <p:pic>
        <p:nvPicPr>
          <p:cNvPr id="8" name="screenshot" descr="/tmp/claude-0/-home-user/11b98046-3116-585b-b221-e5c2e170e62a/scratchpad/deck/bshots/07_agen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874520"/>
            <a:ext cx="6675120" cy="3754755"/>
          </a:xfrm>
          <a:prstGeom prst="rect">
            <a:avLst/>
          </a:prstGeom>
        </p:spPr>
      </p:pic>
      <p:sp>
        <p:nvSpPr>
          <p:cNvPr id="9" name="num-1"/>
          <p:cNvSpPr/>
          <p:nvPr/>
        </p:nvSpPr>
        <p:spPr>
          <a:xfrm>
            <a:off x="11219688" y="1865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219688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1847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Calibri"/>
                <a:cs typeface="Calibri"/>
              </a:rPr>
              <a:t>39</a:t>
            </a: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 وكيلاً</a:t>
            </a:r>
            <a:endParaRPr lang="ar-AE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183880" y="2231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بطاقة لكل وكيل: دوره ومعرّفه وإدارته ونوعه.</a:t>
            </a:r>
            <a:endParaRPr lang="ar-AE" sz="1400" dirty="0"/>
          </a:p>
        </p:txBody>
      </p:sp>
      <p:sp>
        <p:nvSpPr>
          <p:cNvPr id="13" name="num-2"/>
          <p:cNvSpPr/>
          <p:nvPr/>
        </p:nvSpPr>
        <p:spPr>
          <a:xfrm>
            <a:off x="11219688" y="3008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219688" y="3008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183880" y="2990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التصفية</a:t>
            </a:r>
            <a:endParaRPr lang="ar-AE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3374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بالإدارة والنوع، وبوكلاء النواة (</a:t>
            </a:r>
            <a:r>
              <a:rPr lang="ar-AE" altLang="en-US" sz="1400" dirty="0">
                <a:solidFill>
                  <a:schemeClr val="tx1"/>
                </a:solidFill>
                <a:latin typeface="Calibri"/>
                <a:cs typeface="Calibri"/>
              </a:rPr>
              <a:t>MVP</a:t>
            </a: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).</a:t>
            </a:r>
            <a:endParaRPr lang="ar-AE" sz="1400" dirty="0"/>
          </a:p>
        </p:txBody>
      </p:sp>
      <p:sp>
        <p:nvSpPr>
          <p:cNvPr id="17" name="num-3"/>
          <p:cNvSpPr/>
          <p:nvPr/>
        </p:nvSpPr>
        <p:spPr>
          <a:xfrm>
            <a:off x="11219688" y="4151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1219688" y="4151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183880" y="4133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فتح البطاقة</a:t>
            </a:r>
            <a:endParaRPr lang="ar-AE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183880" y="4517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نقرة على الوكيل تعرض تفاصيله وتفعيله.</a:t>
            </a:r>
            <a:endParaRPr lang="ar-AE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>
                <a:latin typeface="Calibri"/>
                <a:cs typeface="Calibri"/>
              </a:rPr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AE" altLang="en-US" sz="3200" b="1" dirty="0">
                <a:solidFill>
                  <a:schemeClr val="accent1"/>
                </a:solidFill>
                <a:latin typeface="Noto Naskh Arabic"/>
                <a:cs typeface="adwa-assalaf"/>
              </a:rPr>
              <a:t>بطاقة الوكيل وتفعيله</a:t>
            </a:r>
            <a:endParaRPr lang="ar-AE" sz="3200" dirty="0"/>
          </a:p>
        </p:txBody>
      </p:sp>
      <p:sp>
        <p:nvSpPr>
          <p:cNvPr id="3" name="role-band"/>
          <p:cNvSpPr/>
          <p:nvPr/>
        </p:nvSpPr>
        <p:spPr>
          <a:xfrm>
            <a:off x="548640" y="1161288"/>
            <a:ext cx="11091672" cy="530352"/>
          </a:xfrm>
          <a:prstGeom prst="roundRect">
            <a:avLst>
              <a:gd name="adj" fmla="val 13793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48872" y="1161288"/>
            <a:ext cx="91440" cy="5303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0" y="1161288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500" b="1" dirty="0">
                <a:solidFill>
                  <a:srgbClr val="B8860B"/>
                </a:solidFill>
                <a:latin typeface="Noto Naskh Arabic"/>
                <a:cs typeface="adwa-assalaf"/>
              </a:rPr>
              <a:t>دور الشاشة:</a:t>
            </a:r>
            <a:endParaRPr lang="ar-AE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161288"/>
            <a:ext cx="9857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500" dirty="0">
                <a:solidFill>
                  <a:srgbClr val="12263F"/>
                </a:solidFill>
                <a:latin typeface="Noto Naskh Arabic"/>
                <a:cs typeface="adwa-assalaf"/>
              </a:rPr>
              <a:t>كل ما يُعرف عن الوكيل، ونموذج لتكليفه مباشرة بالمحرك المختار</a:t>
            </a:r>
            <a:endParaRPr lang="ar-AE" sz="1500" dirty="0"/>
          </a:p>
        </p:txBody>
      </p:sp>
      <p:sp>
        <p:nvSpPr>
          <p:cNvPr id="7" name="screen-frame"/>
          <p:cNvSpPr/>
          <p:nvPr/>
        </p:nvSpPr>
        <p:spPr>
          <a:xfrm>
            <a:off x="1133856" y="1819656"/>
            <a:ext cx="6784848" cy="3864483"/>
          </a:xfrm>
          <a:prstGeom prst="roundRect">
            <a:avLst>
              <a:gd name="adj" fmla="val 1893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2263F">
                <a:alpha val="18000"/>
              </a:srgbClr>
            </a:outerShdw>
          </a:effectLst>
        </p:spPr>
      </p:sp>
      <p:pic>
        <p:nvPicPr>
          <p:cNvPr id="8" name="screenshot" descr="/tmp/claude-0/-home-user/11b98046-3116-585b-b221-e5c2e170e62a/scratchpad/deck/bshots/08_agen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874520"/>
            <a:ext cx="6675120" cy="3754755"/>
          </a:xfrm>
          <a:prstGeom prst="rect">
            <a:avLst/>
          </a:prstGeom>
        </p:spPr>
      </p:pic>
      <p:sp>
        <p:nvSpPr>
          <p:cNvPr id="9" name="num-1"/>
          <p:cNvSpPr/>
          <p:nvPr/>
        </p:nvSpPr>
        <p:spPr>
          <a:xfrm>
            <a:off x="11219688" y="1865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219688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1847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المواصفة</a:t>
            </a:r>
            <a:endParaRPr lang="ar-AE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183880" y="2231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المسؤوليات والمدخلات والمخرجات والأدوات وشروط التوقف.</a:t>
            </a:r>
            <a:endParaRPr lang="ar-AE" sz="1400" dirty="0"/>
          </a:p>
        </p:txBody>
      </p:sp>
      <p:sp>
        <p:nvSpPr>
          <p:cNvPr id="13" name="num-2"/>
          <p:cNvSpPr/>
          <p:nvPr/>
        </p:nvSpPr>
        <p:spPr>
          <a:xfrm>
            <a:off x="11219688" y="3008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219688" y="3008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183880" y="2990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التكليف</a:t>
            </a:r>
            <a:endParaRPr lang="ar-AE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3374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نص التكليف وسياقه، والجنس والسجل الأسلوبي، وداخل مشروع أو خارجه.</a:t>
            </a:r>
            <a:endParaRPr lang="ar-AE" sz="1400" dirty="0"/>
          </a:p>
        </p:txBody>
      </p:sp>
      <p:sp>
        <p:nvSpPr>
          <p:cNvPr id="17" name="num-3"/>
          <p:cNvSpPr/>
          <p:nvPr/>
        </p:nvSpPr>
        <p:spPr>
          <a:xfrm>
            <a:off x="11219688" y="4151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1219688" y="4151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183880" y="4133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الأزرار</a:t>
            </a:r>
            <a:endParaRPr lang="ar-AE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183880" y="4517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تفعيل بالمحرك المختار، وتقييم حي، واختبار بنيوي، ومعاينة البرومبت.</a:t>
            </a:r>
            <a:endParaRPr lang="ar-AE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>
                <a:latin typeface="Calibri"/>
                <a:cs typeface="Calibri"/>
              </a:rPr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AE" altLang="en-US" sz="32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الأجناس الكتابية</a:t>
            </a:r>
            <a:endParaRPr lang="ar-AE" sz="3200" dirty="0"/>
          </a:p>
        </p:txBody>
      </p:sp>
      <p:sp>
        <p:nvSpPr>
          <p:cNvPr id="3" name="role-band"/>
          <p:cNvSpPr/>
          <p:nvPr/>
        </p:nvSpPr>
        <p:spPr>
          <a:xfrm>
            <a:off x="548640" y="1161288"/>
            <a:ext cx="11091672" cy="530352"/>
          </a:xfrm>
          <a:prstGeom prst="roundRect">
            <a:avLst>
              <a:gd name="adj" fmla="val 13793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48872" y="1161288"/>
            <a:ext cx="91440" cy="5303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0" y="1161288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500" b="1" dirty="0">
                <a:solidFill>
                  <a:srgbClr val="B8860B"/>
                </a:solidFill>
                <a:latin typeface="Noto Naskh Arabic"/>
                <a:cs typeface="adwa-assalaf"/>
              </a:rPr>
              <a:t>دور الشاشة:</a:t>
            </a:r>
            <a:endParaRPr lang="ar-AE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161288"/>
            <a:ext cx="9857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500" dirty="0">
                <a:solidFill>
                  <a:srgbClr val="12263F"/>
                </a:solidFill>
                <a:latin typeface="Noto Naskh Arabic"/>
                <a:cs typeface="adwa-assalaf"/>
              </a:rPr>
              <a:t>صفات كل جنس الفكرية والأسلوبية، تُحقن في تكليف الوكيل</a:t>
            </a:r>
            <a:endParaRPr lang="ar-AE" sz="1500" dirty="0"/>
          </a:p>
        </p:txBody>
      </p:sp>
      <p:sp>
        <p:nvSpPr>
          <p:cNvPr id="7" name="screen-frame"/>
          <p:cNvSpPr/>
          <p:nvPr/>
        </p:nvSpPr>
        <p:spPr>
          <a:xfrm>
            <a:off x="1133856" y="1819656"/>
            <a:ext cx="6784848" cy="3864483"/>
          </a:xfrm>
          <a:prstGeom prst="roundRect">
            <a:avLst>
              <a:gd name="adj" fmla="val 1893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2263F">
                <a:alpha val="18000"/>
              </a:srgbClr>
            </a:outerShdw>
          </a:effectLst>
        </p:spPr>
      </p:sp>
      <p:pic>
        <p:nvPicPr>
          <p:cNvPr id="8" name="screenshot" descr="/tmp/claude-0/-home-user/11b98046-3116-585b-b221-e5c2e170e62a/scratchpad/deck/bshots/09_genr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874520"/>
            <a:ext cx="6675120" cy="3754755"/>
          </a:xfrm>
          <a:prstGeom prst="rect">
            <a:avLst/>
          </a:prstGeom>
        </p:spPr>
      </p:pic>
      <p:sp>
        <p:nvSpPr>
          <p:cNvPr id="9" name="num-1"/>
          <p:cNvSpPr/>
          <p:nvPr/>
        </p:nvSpPr>
        <p:spPr>
          <a:xfrm>
            <a:off x="11219688" y="1865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219688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1847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أربعة أجناس</a:t>
            </a:r>
            <a:endParaRPr lang="ar-AE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183880" y="2231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الإبداع الروائي، والبحث العلمي، والكتابة الفكرية، وأعمدة الرأي.</a:t>
            </a:r>
            <a:endParaRPr lang="ar-AE" sz="1400" dirty="0"/>
          </a:p>
        </p:txBody>
      </p:sp>
      <p:sp>
        <p:nvSpPr>
          <p:cNvPr id="13" name="num-2"/>
          <p:cNvSpPr/>
          <p:nvPr/>
        </p:nvSpPr>
        <p:spPr>
          <a:xfrm>
            <a:off x="11219688" y="3008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219688" y="3008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183880" y="2990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الصفات</a:t>
            </a:r>
            <a:endParaRPr lang="ar-AE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3374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فكرية وأسلوبية تُحقن في برومبت الوكيل.</a:t>
            </a:r>
            <a:endParaRPr lang="ar-AE" sz="1400" dirty="0"/>
          </a:p>
        </p:txBody>
      </p:sp>
      <p:sp>
        <p:nvSpPr>
          <p:cNvPr id="17" name="num-3"/>
          <p:cNvSpPr/>
          <p:nvPr/>
        </p:nvSpPr>
        <p:spPr>
          <a:xfrm>
            <a:off x="11219688" y="4151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1219688" y="4151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183880" y="4133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البصمة</a:t>
            </a:r>
            <a:endParaRPr lang="ar-AE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183880" y="4517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يُقاس النص بمرجع بصمتكم في سجلّه.</a:t>
            </a:r>
            <a:endParaRPr lang="ar-AE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>
                <a:latin typeface="Calibri"/>
                <a:cs typeface="Calibri"/>
              </a:rPr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AE" altLang="en-US" sz="3200" b="1" dirty="0">
                <a:solidFill>
                  <a:schemeClr val="accent1"/>
                </a:solidFill>
                <a:latin typeface="Noto Naskh Arabic"/>
                <a:cs typeface="adwa-assalaf"/>
              </a:rPr>
              <a:t>مستويات الإنتاج</a:t>
            </a:r>
            <a:endParaRPr lang="ar-AE" sz="3200" dirty="0"/>
          </a:p>
        </p:txBody>
      </p:sp>
      <p:sp>
        <p:nvSpPr>
          <p:cNvPr id="3" name="role-band"/>
          <p:cNvSpPr/>
          <p:nvPr/>
        </p:nvSpPr>
        <p:spPr>
          <a:xfrm>
            <a:off x="548640" y="1161288"/>
            <a:ext cx="11091672" cy="530352"/>
          </a:xfrm>
          <a:prstGeom prst="roundRect">
            <a:avLst>
              <a:gd name="adj" fmla="val 13793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48872" y="1161288"/>
            <a:ext cx="91440" cy="5303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0" y="1161288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500" b="1" dirty="0">
                <a:solidFill>
                  <a:srgbClr val="B8860B"/>
                </a:solidFill>
                <a:latin typeface="Noto Naskh Arabic"/>
                <a:cs typeface="adwa-assalaf"/>
              </a:rPr>
              <a:t>دور الشاشة:</a:t>
            </a:r>
            <a:endParaRPr lang="ar-AE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161288"/>
            <a:ext cx="9857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500" dirty="0">
                <a:solidFill>
                  <a:srgbClr val="12263F"/>
                </a:solidFill>
                <a:latin typeface="Noto Naskh Arabic"/>
                <a:cs typeface="adwa-assalaf"/>
              </a:rPr>
              <a:t>ثلاثة مستويات تحدد من يكتب ومتى تعتمدون</a:t>
            </a:r>
            <a:endParaRPr lang="ar-AE" sz="1500" dirty="0"/>
          </a:p>
        </p:txBody>
      </p:sp>
      <p:sp>
        <p:nvSpPr>
          <p:cNvPr id="7" name="screen-frame"/>
          <p:cNvSpPr/>
          <p:nvPr/>
        </p:nvSpPr>
        <p:spPr>
          <a:xfrm>
            <a:off x="1133856" y="1819656"/>
            <a:ext cx="6784848" cy="3864483"/>
          </a:xfrm>
          <a:prstGeom prst="roundRect">
            <a:avLst>
              <a:gd name="adj" fmla="val 1893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2263F">
                <a:alpha val="18000"/>
              </a:srgbClr>
            </a:outerShdw>
          </a:effectLst>
        </p:spPr>
      </p:sp>
      <p:pic>
        <p:nvPicPr>
          <p:cNvPr id="8" name="screenshot" descr="/tmp/claude-0/-home-user/11b98046-3116-585b-b221-e5c2e170e62a/scratchpad/deck/bshots/09b_level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874520"/>
            <a:ext cx="6675120" cy="3754755"/>
          </a:xfrm>
          <a:prstGeom prst="rect">
            <a:avLst/>
          </a:prstGeom>
        </p:spPr>
      </p:pic>
      <p:sp>
        <p:nvSpPr>
          <p:cNvPr id="9" name="num-1"/>
          <p:cNvSpPr/>
          <p:nvPr/>
        </p:nvSpPr>
        <p:spPr>
          <a:xfrm>
            <a:off x="11219688" y="1865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219688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1847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الهيكل</a:t>
            </a:r>
            <a:endParaRPr lang="ar-AE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183880" y="2231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يبني النظام المخطط وبطاقة لكل وحدة، ويكتب المؤلف النص بنفسه، ثم يُفحص.</a:t>
            </a:r>
            <a:endParaRPr lang="ar-AE" sz="1400" dirty="0"/>
          </a:p>
        </p:txBody>
      </p:sp>
      <p:sp>
        <p:nvSpPr>
          <p:cNvPr id="13" name="num-2"/>
          <p:cNvSpPr/>
          <p:nvPr/>
        </p:nvSpPr>
        <p:spPr>
          <a:xfrm>
            <a:off x="11219688" y="3008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219688" y="3008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183880" y="2990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التدرجي</a:t>
            </a:r>
            <a:endParaRPr lang="ar-AE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3374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لا تُكتب وحدة قبل اعتماد التي قبلها: مسودة فقياس فمراجعة فاعتماد.</a:t>
            </a:r>
            <a:endParaRPr lang="ar-AE" sz="1400" dirty="0"/>
          </a:p>
        </p:txBody>
      </p:sp>
      <p:sp>
        <p:nvSpPr>
          <p:cNvPr id="17" name="num-3"/>
          <p:cNvSpPr/>
          <p:nvPr/>
        </p:nvSpPr>
        <p:spPr>
          <a:xfrm>
            <a:off x="11219688" y="4151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1219688" y="4151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183880" y="4133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الكامل</a:t>
            </a:r>
            <a:endParaRPr lang="ar-AE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183880" y="4517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الكتاب كاملاً في تشغيل واحد، ثم يراجعه المؤلف ويعيده إلى أسلوبه قبل الاعتماد.</a:t>
            </a:r>
            <a:endParaRPr lang="ar-AE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>
                <a:latin typeface="Calibri"/>
                <a:cs typeface="Calibri"/>
              </a:rPr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AE" altLang="en-US" sz="3200" b="1" dirty="0">
                <a:solidFill>
                  <a:schemeClr val="accent1"/>
                </a:solidFill>
                <a:latin typeface="Noto Naskh Arabic"/>
                <a:cs typeface="adwa-assalaf"/>
              </a:rPr>
              <a:t>سير العمل</a:t>
            </a:r>
            <a:endParaRPr lang="ar-AE" sz="3200" dirty="0"/>
          </a:p>
        </p:txBody>
      </p:sp>
      <p:sp>
        <p:nvSpPr>
          <p:cNvPr id="3" name="role-band"/>
          <p:cNvSpPr/>
          <p:nvPr/>
        </p:nvSpPr>
        <p:spPr>
          <a:xfrm>
            <a:off x="548640" y="1161288"/>
            <a:ext cx="11091672" cy="530352"/>
          </a:xfrm>
          <a:prstGeom prst="roundRect">
            <a:avLst>
              <a:gd name="adj" fmla="val 13793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48872" y="1161288"/>
            <a:ext cx="91440" cy="5303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0" y="1161288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500" b="1" dirty="0">
                <a:solidFill>
                  <a:srgbClr val="B8860B"/>
                </a:solidFill>
                <a:latin typeface="Noto Naskh Arabic"/>
                <a:cs typeface="adwa-assalaf"/>
              </a:rPr>
              <a:t>دور الشاشة:</a:t>
            </a:r>
            <a:endParaRPr lang="ar-AE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161288"/>
            <a:ext cx="9857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500" dirty="0">
                <a:solidFill>
                  <a:srgbClr val="12263F"/>
                </a:solidFill>
                <a:latin typeface="Noto Naskh Arabic"/>
                <a:cs typeface="adwa-assalaf"/>
              </a:rPr>
              <a:t>واحد وعشرون سير عمل جاهزاً، لكل نوع عمل مراحله ووكلاؤه</a:t>
            </a:r>
            <a:endParaRPr lang="ar-AE" sz="1500" dirty="0"/>
          </a:p>
        </p:txBody>
      </p:sp>
      <p:sp>
        <p:nvSpPr>
          <p:cNvPr id="7" name="screen-frame"/>
          <p:cNvSpPr/>
          <p:nvPr/>
        </p:nvSpPr>
        <p:spPr>
          <a:xfrm>
            <a:off x="1133856" y="1819656"/>
            <a:ext cx="6784848" cy="3864483"/>
          </a:xfrm>
          <a:prstGeom prst="roundRect">
            <a:avLst>
              <a:gd name="adj" fmla="val 1893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2263F">
                <a:alpha val="18000"/>
              </a:srgbClr>
            </a:outerShdw>
          </a:effectLst>
        </p:spPr>
      </p:sp>
      <p:pic>
        <p:nvPicPr>
          <p:cNvPr id="8" name="screenshot" descr="/tmp/claude-0/-home-user/11b98046-3116-585b-b221-e5c2e170e62a/scratchpad/deck/bshots/10_workflow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874520"/>
            <a:ext cx="6675120" cy="3754755"/>
          </a:xfrm>
          <a:prstGeom prst="rect">
            <a:avLst/>
          </a:prstGeom>
        </p:spPr>
      </p:pic>
      <p:sp>
        <p:nvSpPr>
          <p:cNvPr id="9" name="num-1"/>
          <p:cNvSpPr/>
          <p:nvPr/>
        </p:nvSpPr>
        <p:spPr>
          <a:xfrm>
            <a:off x="11219688" y="1865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219688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1847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Calibri"/>
                <a:cs typeface="Calibri"/>
              </a:rPr>
              <a:t>21</a:t>
            </a: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 سير عمل</a:t>
            </a:r>
            <a:endParaRPr lang="ar-AE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183880" y="2231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لكل نوع عمل سيره: الدراسة التطبيقية، والكتاب الأكاديمي، ومقال الرأي…</a:t>
            </a:r>
            <a:endParaRPr lang="ar-AE" sz="1400" dirty="0"/>
          </a:p>
        </p:txBody>
      </p:sp>
      <p:sp>
        <p:nvSpPr>
          <p:cNvPr id="13" name="num-2"/>
          <p:cNvSpPr/>
          <p:nvPr/>
        </p:nvSpPr>
        <p:spPr>
          <a:xfrm>
            <a:off x="11219688" y="3008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219688" y="3008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183880" y="2990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المراحل</a:t>
            </a:r>
            <a:endParaRPr lang="ar-AE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3374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عدد المراحل ومعرّف السير على كل بطاقة.</a:t>
            </a:r>
            <a:endParaRPr lang="ar-AE" sz="1400" dirty="0"/>
          </a:p>
        </p:txBody>
      </p:sp>
      <p:sp>
        <p:nvSpPr>
          <p:cNvPr id="17" name="num-3"/>
          <p:cNvSpPr/>
          <p:nvPr/>
        </p:nvSpPr>
        <p:spPr>
          <a:xfrm>
            <a:off x="11219688" y="4151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1219688" y="4151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183880" y="4133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التفاصيل</a:t>
            </a:r>
            <a:endParaRPr lang="ar-AE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183880" y="4517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نقرة تعرض المراحل ووكلاءها وبواباتها.</a:t>
            </a:r>
            <a:endParaRPr lang="ar-AE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>
                <a:latin typeface="Calibri"/>
                <a:cs typeface="Calibri"/>
              </a:rPr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AE" altLang="en-US" sz="32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الاعتمادات والذاكرة</a:t>
            </a:r>
            <a:endParaRPr lang="ar-AE" sz="3200" dirty="0"/>
          </a:p>
        </p:txBody>
      </p:sp>
      <p:sp>
        <p:nvSpPr>
          <p:cNvPr id="3" name="role-band"/>
          <p:cNvSpPr/>
          <p:nvPr/>
        </p:nvSpPr>
        <p:spPr>
          <a:xfrm>
            <a:off x="548640" y="1161288"/>
            <a:ext cx="11091672" cy="530352"/>
          </a:xfrm>
          <a:prstGeom prst="roundRect">
            <a:avLst>
              <a:gd name="adj" fmla="val 13793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48872" y="1161288"/>
            <a:ext cx="91440" cy="5303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0" y="1161288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500" b="1" dirty="0">
                <a:solidFill>
                  <a:srgbClr val="B8860B"/>
                </a:solidFill>
                <a:latin typeface="Noto Naskh Arabic"/>
                <a:cs typeface="adwa-assalaf"/>
              </a:rPr>
              <a:t>دور الشاشة:</a:t>
            </a:r>
            <a:endParaRPr lang="ar-AE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161288"/>
            <a:ext cx="9857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500" dirty="0">
                <a:solidFill>
                  <a:srgbClr val="12263F"/>
                </a:solidFill>
                <a:latin typeface="Noto Naskh Arabic"/>
                <a:cs typeface="adwa-assalaf"/>
              </a:rPr>
              <a:t>بوابة الذاكرة المؤسسية: لا يُحفظ درس ولا منهج إلا بإقراركم</a:t>
            </a:r>
            <a:endParaRPr lang="ar-AE" sz="1500" dirty="0"/>
          </a:p>
        </p:txBody>
      </p:sp>
      <p:sp>
        <p:nvSpPr>
          <p:cNvPr id="7" name="screen-frame"/>
          <p:cNvSpPr/>
          <p:nvPr/>
        </p:nvSpPr>
        <p:spPr>
          <a:xfrm>
            <a:off x="1133856" y="1819656"/>
            <a:ext cx="6784848" cy="3864483"/>
          </a:xfrm>
          <a:prstGeom prst="roundRect">
            <a:avLst>
              <a:gd name="adj" fmla="val 1893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2263F">
                <a:alpha val="18000"/>
              </a:srgbClr>
            </a:outerShdw>
          </a:effectLst>
        </p:spPr>
      </p:sp>
      <p:pic>
        <p:nvPicPr>
          <p:cNvPr id="8" name="screenshot" descr="/tmp/claude-0/-home-user/11b98046-3116-585b-b221-e5c2e170e62a/scratchpad/deck/bshots/11_governan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874520"/>
            <a:ext cx="6675120" cy="3754755"/>
          </a:xfrm>
          <a:prstGeom prst="rect">
            <a:avLst/>
          </a:prstGeom>
        </p:spPr>
      </p:pic>
      <p:sp>
        <p:nvSpPr>
          <p:cNvPr id="9" name="num-1"/>
          <p:cNvSpPr/>
          <p:nvPr/>
        </p:nvSpPr>
        <p:spPr>
          <a:xfrm>
            <a:off x="11219688" y="1865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219688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1847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مرشحات بانتظاركم</a:t>
            </a:r>
            <a:endParaRPr lang="ar-AE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183880" y="2231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دروس ومناهج وأخطاء مقترحة للحفظ في الذاكرة.</a:t>
            </a:r>
            <a:endParaRPr lang="ar-AE" sz="1400" dirty="0"/>
          </a:p>
        </p:txBody>
      </p:sp>
      <p:sp>
        <p:nvSpPr>
          <p:cNvPr id="13" name="num-2"/>
          <p:cNvSpPr/>
          <p:nvPr/>
        </p:nvSpPr>
        <p:spPr>
          <a:xfrm>
            <a:off x="11219688" y="3008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219688" y="3008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183880" y="2990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الإقرار</a:t>
            </a:r>
            <a:endParaRPr lang="ar-AE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3374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لا يدخل شيء الذاكرة المؤسسية إلا بإقراركم (</a:t>
            </a:r>
            <a:r>
              <a:rPr lang="ar-AE" altLang="en-US" sz="1400" dirty="0">
                <a:solidFill>
                  <a:schemeClr val="tx1"/>
                </a:solidFill>
                <a:latin typeface="Calibri"/>
                <a:cs typeface="Calibri"/>
              </a:rPr>
              <a:t>L4</a:t>
            </a: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).</a:t>
            </a:r>
            <a:endParaRPr lang="ar-AE" sz="1400" dirty="0"/>
          </a:p>
        </p:txBody>
      </p:sp>
      <p:sp>
        <p:nvSpPr>
          <p:cNvPr id="17" name="num-3"/>
          <p:cNvSpPr/>
          <p:nvPr/>
        </p:nvSpPr>
        <p:spPr>
          <a:xfrm>
            <a:off x="11219688" y="4151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1219688" y="4151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183880" y="4133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طبقات الذاكرة</a:t>
            </a:r>
            <a:endParaRPr lang="ar-AE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183880" y="4517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المؤسسية، والمؤلف، والبحثية، والتحريرية.</a:t>
            </a:r>
            <a:endParaRPr lang="ar-AE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>
                <a:latin typeface="Calibri"/>
                <a:cs typeface="Calibri"/>
              </a:rPr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AE" altLang="en-US" sz="32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الخزنة</a:t>
            </a:r>
            <a:endParaRPr lang="ar-AE" sz="3200" dirty="0"/>
          </a:p>
        </p:txBody>
      </p:sp>
      <p:sp>
        <p:nvSpPr>
          <p:cNvPr id="3" name="role-band"/>
          <p:cNvSpPr/>
          <p:nvPr/>
        </p:nvSpPr>
        <p:spPr>
          <a:xfrm>
            <a:off x="548640" y="1161288"/>
            <a:ext cx="11091672" cy="530352"/>
          </a:xfrm>
          <a:prstGeom prst="roundRect">
            <a:avLst>
              <a:gd name="adj" fmla="val 13793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48872" y="1161288"/>
            <a:ext cx="91440" cy="5303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0" y="1161288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500" b="1" dirty="0">
                <a:solidFill>
                  <a:srgbClr val="B8860B"/>
                </a:solidFill>
                <a:latin typeface="Noto Naskh Arabic"/>
                <a:cs typeface="adwa-assalaf"/>
              </a:rPr>
              <a:t>دور الشاشة:</a:t>
            </a:r>
            <a:endParaRPr lang="ar-AE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161288"/>
            <a:ext cx="9857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500" dirty="0">
                <a:solidFill>
                  <a:srgbClr val="12263F"/>
                </a:solidFill>
                <a:latin typeface="Noto Naskh Arabic"/>
                <a:cs typeface="adwa-assalaf"/>
              </a:rPr>
              <a:t>الأصول الأصلية محفوظة للقراءة فقط ببصمتها، ويُكشف أي عبث بها</a:t>
            </a:r>
            <a:endParaRPr lang="ar-AE" sz="1500" dirty="0"/>
          </a:p>
        </p:txBody>
      </p:sp>
      <p:sp>
        <p:nvSpPr>
          <p:cNvPr id="7" name="screen-frame"/>
          <p:cNvSpPr/>
          <p:nvPr/>
        </p:nvSpPr>
        <p:spPr>
          <a:xfrm>
            <a:off x="1133856" y="1819656"/>
            <a:ext cx="6784848" cy="3864483"/>
          </a:xfrm>
          <a:prstGeom prst="roundRect">
            <a:avLst>
              <a:gd name="adj" fmla="val 1893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2263F">
                <a:alpha val="18000"/>
              </a:srgbClr>
            </a:outerShdw>
          </a:effectLst>
        </p:spPr>
      </p:sp>
      <p:pic>
        <p:nvPicPr>
          <p:cNvPr id="8" name="screenshot" descr="/tmp/claude-0/-home-user/11b98046-3116-585b-b221-e5c2e170e62a/scratchpad/deck/bshots/12_vaul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874520"/>
            <a:ext cx="6675120" cy="3754755"/>
          </a:xfrm>
          <a:prstGeom prst="rect">
            <a:avLst/>
          </a:prstGeom>
        </p:spPr>
      </p:pic>
      <p:sp>
        <p:nvSpPr>
          <p:cNvPr id="9" name="num-1"/>
          <p:cNvSpPr/>
          <p:nvPr/>
        </p:nvSpPr>
        <p:spPr>
          <a:xfrm>
            <a:off x="11219688" y="1865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219688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1847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الإيداع</a:t>
            </a:r>
            <a:endParaRPr lang="ar-AE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183880" y="2231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الأصل يُحفظ للقراءة فقط بمسار من بصمته (</a:t>
            </a:r>
            <a:r>
              <a:rPr lang="ar-AE" altLang="en-US" sz="1400" dirty="0">
                <a:solidFill>
                  <a:schemeClr val="tx1"/>
                </a:solidFill>
                <a:latin typeface="Calibri"/>
                <a:cs typeface="Calibri"/>
              </a:rPr>
              <a:t>SHA-256</a:t>
            </a: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).</a:t>
            </a:r>
            <a:endParaRPr lang="ar-AE" sz="1400" dirty="0"/>
          </a:p>
        </p:txBody>
      </p:sp>
      <p:sp>
        <p:nvSpPr>
          <p:cNvPr id="13" name="num-2"/>
          <p:cNvSpPr/>
          <p:nvPr/>
        </p:nvSpPr>
        <p:spPr>
          <a:xfrm>
            <a:off x="11219688" y="3008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219688" y="3008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183880" y="2990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السلامة</a:t>
            </a:r>
            <a:endParaRPr lang="ar-AE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3374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فحص يكشف كل أصل مفقود أو معدَّل.</a:t>
            </a:r>
            <a:endParaRPr lang="ar-AE" sz="1400" dirty="0"/>
          </a:p>
        </p:txBody>
      </p:sp>
      <p:sp>
        <p:nvSpPr>
          <p:cNvPr id="17" name="num-3"/>
          <p:cNvSpPr/>
          <p:nvPr/>
        </p:nvSpPr>
        <p:spPr>
          <a:xfrm>
            <a:off x="11219688" y="4151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1219688" y="4151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183880" y="4133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النسخ الاحتياطي</a:t>
            </a:r>
            <a:endParaRPr lang="ar-AE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183880" y="4517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نسخة على نمط </a:t>
            </a:r>
            <a:r>
              <a:rPr lang="ar-AE" altLang="en-US" sz="1400" dirty="0">
                <a:solidFill>
                  <a:schemeClr val="tx1"/>
                </a:solidFill>
                <a:latin typeface="Calibri"/>
                <a:cs typeface="Calibri"/>
              </a:rPr>
              <a:t>BagIt</a:t>
            </a: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 ببيان البصمات.</a:t>
            </a:r>
            <a:endParaRPr lang="ar-AE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766435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200" i="1" dirty="0">
                <a:solidFill>
                  <a:schemeClr val="tx2"/>
                </a:solidFill>
                <a:latin typeface="Noto Naskh Arabic"/>
                <a:cs typeface="adwa-assalaf"/>
              </a:rPr>
              <a:t>أصل تجريبي واحد أُودع لأغراض العرض.</a:t>
            </a:r>
            <a:endParaRPr lang="ar-AE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>
                <a:latin typeface="Calibri"/>
                <a:cs typeface="Calibri"/>
              </a:rPr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AE" altLang="en-US" sz="32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الأدوات والفحوص</a:t>
            </a:r>
            <a:endParaRPr lang="ar-AE" sz="3200" dirty="0"/>
          </a:p>
        </p:txBody>
      </p:sp>
      <p:sp>
        <p:nvSpPr>
          <p:cNvPr id="3" name="role-band"/>
          <p:cNvSpPr/>
          <p:nvPr/>
        </p:nvSpPr>
        <p:spPr>
          <a:xfrm>
            <a:off x="548640" y="1161288"/>
            <a:ext cx="11091672" cy="530352"/>
          </a:xfrm>
          <a:prstGeom prst="roundRect">
            <a:avLst>
              <a:gd name="adj" fmla="val 13793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48872" y="1161288"/>
            <a:ext cx="91440" cy="5303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0" y="1161288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500" b="1" dirty="0">
                <a:solidFill>
                  <a:srgbClr val="B8860B"/>
                </a:solidFill>
                <a:latin typeface="Noto Naskh Arabic"/>
                <a:cs typeface="adwa-assalaf"/>
              </a:rPr>
              <a:t>دور الشاشة:</a:t>
            </a:r>
            <a:endParaRPr lang="ar-AE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161288"/>
            <a:ext cx="9857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500" dirty="0">
                <a:solidFill>
                  <a:srgbClr val="12263F"/>
                </a:solidFill>
                <a:latin typeface="Noto Naskh Arabic"/>
                <a:cs typeface="adwa-assalaf"/>
              </a:rPr>
              <a:t>مختبر التحقق: فحص النص قبل اعتماده، والتحقق من </a:t>
            </a:r>
            <a:r>
              <a:rPr lang="ar-AE" altLang="en-US" sz="1500" dirty="0">
                <a:solidFill>
                  <a:srgbClr val="12263F"/>
                </a:solidFill>
                <a:latin typeface="Calibri"/>
                <a:cs typeface="Calibri"/>
              </a:rPr>
              <a:t>DOI</a:t>
            </a:r>
            <a:r>
              <a:rPr lang="ar-AE" altLang="en-US" sz="1500" dirty="0">
                <a:solidFill>
                  <a:srgbClr val="12263F"/>
                </a:solidFill>
                <a:latin typeface="Noto Naskh Arabic"/>
                <a:cs typeface="adwa-assalaf"/>
              </a:rPr>
              <a:t>، وسلامة المنظومة</a:t>
            </a:r>
            <a:endParaRPr lang="ar-AE" sz="1500" dirty="0"/>
          </a:p>
        </p:txBody>
      </p:sp>
      <p:sp>
        <p:nvSpPr>
          <p:cNvPr id="7" name="screen-frame"/>
          <p:cNvSpPr/>
          <p:nvPr/>
        </p:nvSpPr>
        <p:spPr>
          <a:xfrm>
            <a:off x="1133856" y="1819656"/>
            <a:ext cx="6784848" cy="3864483"/>
          </a:xfrm>
          <a:prstGeom prst="roundRect">
            <a:avLst>
              <a:gd name="adj" fmla="val 1893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2263F">
                <a:alpha val="18000"/>
              </a:srgbClr>
            </a:outerShdw>
          </a:effectLst>
        </p:spPr>
      </p:sp>
      <p:pic>
        <p:nvPicPr>
          <p:cNvPr id="8" name="screenshot" descr="/tmp/claude-0/-home-user/11b98046-3116-585b-b221-e5c2e170e62a/scratchpad/deck/bshots/13b_chec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874520"/>
            <a:ext cx="6675120" cy="3754755"/>
          </a:xfrm>
          <a:prstGeom prst="rect">
            <a:avLst/>
          </a:prstGeom>
        </p:spPr>
      </p:pic>
      <p:sp>
        <p:nvSpPr>
          <p:cNvPr id="9" name="num-1"/>
          <p:cNvSpPr/>
          <p:nvPr/>
        </p:nvSpPr>
        <p:spPr>
          <a:xfrm>
            <a:off x="11219688" y="1865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219688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1847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فحص النص</a:t>
            </a:r>
            <a:endParaRPr lang="ar-AE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183880" y="2231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وسوم الادعاءات، والاستشهادات (</a:t>
            </a:r>
            <a:r>
              <a:rPr lang="ar-AE" altLang="en-US" sz="1400" dirty="0">
                <a:solidFill>
                  <a:schemeClr val="tx1"/>
                </a:solidFill>
                <a:latin typeface="Calibri"/>
                <a:cs typeface="Calibri"/>
              </a:rPr>
              <a:t>QG4</a:t>
            </a: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)، والسجل الأسلوبي.</a:t>
            </a:r>
            <a:endParaRPr lang="ar-AE" sz="1400" dirty="0"/>
          </a:p>
        </p:txBody>
      </p:sp>
      <p:sp>
        <p:nvSpPr>
          <p:cNvPr id="13" name="num-2"/>
          <p:cNvSpPr/>
          <p:nvPr/>
        </p:nvSpPr>
        <p:spPr>
          <a:xfrm>
            <a:off x="11219688" y="3008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219688" y="3008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183880" y="2990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التحقق من </a:t>
            </a:r>
            <a:r>
              <a:rPr lang="ar-AE" altLang="en-US" sz="1600" b="1" dirty="0">
                <a:solidFill>
                  <a:schemeClr val="accent1"/>
                </a:solidFill>
                <a:latin typeface="Calibri"/>
                <a:cs typeface="Calibri"/>
              </a:rPr>
              <a:t>DOI</a:t>
            </a:r>
            <a:endParaRPr lang="ar-AE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3374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مطابقة المعرّف بالعنوان والسنة.</a:t>
            </a:r>
            <a:endParaRPr lang="ar-AE" sz="1400" dirty="0"/>
          </a:p>
        </p:txBody>
      </p:sp>
      <p:sp>
        <p:nvSpPr>
          <p:cNvPr id="17" name="num-3"/>
          <p:cNvSpPr/>
          <p:nvPr/>
        </p:nvSpPr>
        <p:spPr>
          <a:xfrm>
            <a:off x="11219688" y="4151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1219688" y="4151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183880" y="4133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سلامة المنظومة</a:t>
            </a:r>
            <a:endParaRPr lang="ar-AE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183880" y="4517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الاتساق، وتوليد ملفات الوكلاء، والاختبار البنيوي، والفحص الأمني.</a:t>
            </a:r>
            <a:endParaRPr lang="ar-AE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766435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200" i="1" dirty="0">
                <a:solidFill>
                  <a:schemeClr val="tx2"/>
                </a:solidFill>
                <a:latin typeface="Noto Naskh Arabic"/>
                <a:cs typeface="adwa-assalaf"/>
              </a:rPr>
              <a:t>نص قصير مكتوب للعرض، فيه لوازم صياغة متعمَّدة.</a:t>
            </a:r>
            <a:endParaRPr lang="ar-AE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>
                <a:latin typeface="Calibri"/>
                <a:cs typeface="Calibri"/>
              </a:rPr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AE" altLang="en-US" sz="32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السجل والكلفة</a:t>
            </a:r>
            <a:endParaRPr lang="ar-AE" sz="3200" dirty="0"/>
          </a:p>
        </p:txBody>
      </p:sp>
      <p:sp>
        <p:nvSpPr>
          <p:cNvPr id="3" name="role-band"/>
          <p:cNvSpPr/>
          <p:nvPr/>
        </p:nvSpPr>
        <p:spPr>
          <a:xfrm>
            <a:off x="548640" y="1161288"/>
            <a:ext cx="11091672" cy="530352"/>
          </a:xfrm>
          <a:prstGeom prst="roundRect">
            <a:avLst>
              <a:gd name="adj" fmla="val 13793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48872" y="1161288"/>
            <a:ext cx="91440" cy="5303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0" y="1161288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500" b="1" dirty="0">
                <a:solidFill>
                  <a:srgbClr val="B8860B"/>
                </a:solidFill>
                <a:latin typeface="Noto Naskh Arabic"/>
                <a:cs typeface="adwa-assalaf"/>
              </a:rPr>
              <a:t>دور الشاشة:</a:t>
            </a:r>
            <a:endParaRPr lang="ar-AE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161288"/>
            <a:ext cx="9857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500" dirty="0">
                <a:solidFill>
                  <a:srgbClr val="12263F"/>
                </a:solidFill>
                <a:latin typeface="Noto Naskh Arabic"/>
                <a:cs typeface="adwa-assalaf"/>
              </a:rPr>
              <a:t>ذاكرة الأفعال: كل إجراء بتاريخه وفاعله وقراره، والكلفة مجمّعة أسفله</a:t>
            </a:r>
            <a:endParaRPr lang="ar-AE" sz="1500" dirty="0"/>
          </a:p>
        </p:txBody>
      </p:sp>
      <p:sp>
        <p:nvSpPr>
          <p:cNvPr id="7" name="screen-frame"/>
          <p:cNvSpPr/>
          <p:nvPr/>
        </p:nvSpPr>
        <p:spPr>
          <a:xfrm>
            <a:off x="1133856" y="1819656"/>
            <a:ext cx="6784848" cy="3864483"/>
          </a:xfrm>
          <a:prstGeom prst="roundRect">
            <a:avLst>
              <a:gd name="adj" fmla="val 1893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2263F">
                <a:alpha val="18000"/>
              </a:srgbClr>
            </a:outerShdw>
          </a:effectLst>
        </p:spPr>
      </p:sp>
      <p:pic>
        <p:nvPicPr>
          <p:cNvPr id="8" name="screenshot" descr="/tmp/claude-0/-home-user/11b98046-3116-585b-b221-e5c2e170e62a/scratchpad/deck/bshots/14_lo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874520"/>
            <a:ext cx="6675120" cy="3754755"/>
          </a:xfrm>
          <a:prstGeom prst="rect">
            <a:avLst/>
          </a:prstGeom>
        </p:spPr>
      </p:pic>
      <p:sp>
        <p:nvSpPr>
          <p:cNvPr id="9" name="num-1"/>
          <p:cNvSpPr/>
          <p:nvPr/>
        </p:nvSpPr>
        <p:spPr>
          <a:xfrm>
            <a:off x="11219688" y="1865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219688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1847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سجل التدقيق</a:t>
            </a:r>
            <a:endParaRPr lang="ar-AE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183880" y="2231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كل إجراء بتاريخه وفاعله ومشروعه وقراره ونموذجه.</a:t>
            </a:r>
            <a:endParaRPr lang="ar-AE" sz="1400" dirty="0"/>
          </a:p>
        </p:txBody>
      </p:sp>
      <p:sp>
        <p:nvSpPr>
          <p:cNvPr id="13" name="num-2"/>
          <p:cNvSpPr/>
          <p:nvPr/>
        </p:nvSpPr>
        <p:spPr>
          <a:xfrm>
            <a:off x="11219688" y="3008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219688" y="3008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183880" y="2990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التصفية</a:t>
            </a:r>
            <a:endParaRPr lang="ar-AE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3374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بالمشروع.</a:t>
            </a:r>
            <a:endParaRPr lang="ar-AE" sz="1400" dirty="0"/>
          </a:p>
        </p:txBody>
      </p:sp>
      <p:sp>
        <p:nvSpPr>
          <p:cNvPr id="17" name="num-3"/>
          <p:cNvSpPr/>
          <p:nvPr/>
        </p:nvSpPr>
        <p:spPr>
          <a:xfrm>
            <a:off x="11219688" y="4151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1219688" y="4151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183880" y="4133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الكلفة</a:t>
            </a:r>
            <a:endParaRPr lang="ar-AE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183880" y="4517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قسم «الكلفة» أسفل السجل يجمع أحداثها.</a:t>
            </a:r>
            <a:endParaRPr lang="ar-AE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>
                <a:latin typeface="Calibri"/>
                <a:cs typeface="Calibri"/>
              </a:rPr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AE" altLang="en-US" sz="32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الإعدادات</a:t>
            </a:r>
            <a:endParaRPr lang="ar-AE" sz="3200" dirty="0"/>
          </a:p>
        </p:txBody>
      </p:sp>
      <p:sp>
        <p:nvSpPr>
          <p:cNvPr id="3" name="role-band"/>
          <p:cNvSpPr/>
          <p:nvPr/>
        </p:nvSpPr>
        <p:spPr>
          <a:xfrm>
            <a:off x="548640" y="1161288"/>
            <a:ext cx="11091672" cy="530352"/>
          </a:xfrm>
          <a:prstGeom prst="roundRect">
            <a:avLst>
              <a:gd name="adj" fmla="val 13793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48872" y="1161288"/>
            <a:ext cx="91440" cy="5303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0" y="1161288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500" b="1" dirty="0">
                <a:solidFill>
                  <a:srgbClr val="B8860B"/>
                </a:solidFill>
                <a:latin typeface="Noto Naskh Arabic"/>
                <a:cs typeface="adwa-assalaf"/>
              </a:rPr>
              <a:t>دور الشاشة:</a:t>
            </a:r>
            <a:endParaRPr lang="ar-AE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161288"/>
            <a:ext cx="9857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500" dirty="0">
                <a:solidFill>
                  <a:srgbClr val="12263F"/>
                </a:solidFill>
                <a:latin typeface="Noto Naskh Arabic"/>
                <a:cs typeface="adwa-assalaf"/>
              </a:rPr>
              <a:t>الاتصال بـ </a:t>
            </a:r>
            <a:r>
              <a:rPr lang="ar-AE" altLang="en-US" sz="1500" dirty="0">
                <a:solidFill>
                  <a:srgbClr val="12263F"/>
                </a:solidFill>
                <a:latin typeface="Calibri"/>
                <a:cs typeface="Calibri"/>
              </a:rPr>
              <a:t>Claude</a:t>
            </a:r>
            <a:r>
              <a:rPr lang="ar-AE" altLang="en-US" sz="1500" dirty="0">
                <a:solidFill>
                  <a:srgbClr val="12263F"/>
                </a:solidFill>
                <a:latin typeface="Noto Naskh Arabic"/>
                <a:cs typeface="adwa-assalaf"/>
              </a:rPr>
              <a:t> وحال المنظومة: أي المحركات جاهز، وأين البيانات</a:t>
            </a:r>
            <a:endParaRPr lang="ar-AE" sz="1500" dirty="0"/>
          </a:p>
        </p:txBody>
      </p:sp>
      <p:sp>
        <p:nvSpPr>
          <p:cNvPr id="7" name="screen-frame"/>
          <p:cNvSpPr/>
          <p:nvPr/>
        </p:nvSpPr>
        <p:spPr>
          <a:xfrm>
            <a:off x="1133856" y="1819656"/>
            <a:ext cx="6784848" cy="3864483"/>
          </a:xfrm>
          <a:prstGeom prst="roundRect">
            <a:avLst>
              <a:gd name="adj" fmla="val 1893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2263F">
                <a:alpha val="18000"/>
              </a:srgbClr>
            </a:outerShdw>
          </a:effectLst>
        </p:spPr>
      </p:sp>
      <p:pic>
        <p:nvPicPr>
          <p:cNvPr id="8" name="screenshot" descr="/tmp/claude-0/-home-user/11b98046-3116-585b-b221-e5c2e170e62a/scratchpad/deck/bshots/15_setting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874520"/>
            <a:ext cx="6675120" cy="3754755"/>
          </a:xfrm>
          <a:prstGeom prst="rect">
            <a:avLst/>
          </a:prstGeom>
        </p:spPr>
      </p:pic>
      <p:sp>
        <p:nvSpPr>
          <p:cNvPr id="9" name="num-1"/>
          <p:cNvSpPr/>
          <p:nvPr/>
        </p:nvSpPr>
        <p:spPr>
          <a:xfrm>
            <a:off x="11219688" y="1865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219688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1847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المحركات</a:t>
            </a:r>
            <a:endParaRPr lang="ar-AE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183880" y="2231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حالة </a:t>
            </a:r>
            <a:r>
              <a:rPr lang="ar-AE" altLang="en-US" sz="1400" dirty="0">
                <a:solidFill>
                  <a:schemeClr val="tx1"/>
                </a:solidFill>
                <a:latin typeface="Calibri"/>
                <a:cs typeface="Calibri"/>
              </a:rPr>
              <a:t>Claude</a:t>
            </a: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 </a:t>
            </a:r>
            <a:r>
              <a:rPr lang="ar-AE" altLang="en-US" sz="1400" dirty="0">
                <a:solidFill>
                  <a:schemeClr val="tx1"/>
                </a:solidFill>
                <a:latin typeface="Calibri"/>
                <a:cs typeface="Calibri"/>
              </a:rPr>
              <a:t>Code</a:t>
            </a: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 وتسجيل الدخول، ومفاتيح </a:t>
            </a:r>
            <a:r>
              <a:rPr lang="ar-AE" altLang="en-US" sz="1400" dirty="0">
                <a:solidFill>
                  <a:schemeClr val="tx1"/>
                </a:solidFill>
                <a:latin typeface="Calibri"/>
                <a:cs typeface="Calibri"/>
              </a:rPr>
              <a:t>API</a:t>
            </a: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 دون عرضها.</a:t>
            </a:r>
            <a:endParaRPr lang="ar-AE" sz="1400" dirty="0"/>
          </a:p>
        </p:txBody>
      </p:sp>
      <p:sp>
        <p:nvSpPr>
          <p:cNvPr id="13" name="num-2"/>
          <p:cNvSpPr/>
          <p:nvPr/>
        </p:nvSpPr>
        <p:spPr>
          <a:xfrm>
            <a:off x="11219688" y="3008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219688" y="3008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183880" y="2990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الحالة</a:t>
            </a:r>
            <a:endParaRPr lang="ar-AE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3374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جذر المستودع، ونسخة الشيفرة، والذاكرة الخاصة.</a:t>
            </a:r>
            <a:endParaRPr lang="ar-AE" sz="1400" dirty="0"/>
          </a:p>
        </p:txBody>
      </p:sp>
      <p:sp>
        <p:nvSpPr>
          <p:cNvPr id="17" name="num-3"/>
          <p:cNvSpPr/>
          <p:nvPr/>
        </p:nvSpPr>
        <p:spPr>
          <a:xfrm>
            <a:off x="11219688" y="4151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1219688" y="4151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183880" y="4133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الخصوصية</a:t>
            </a:r>
            <a:endParaRPr lang="ar-AE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183880" y="4517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اللوحة على هذا الجهاز وحده، وقرارات </a:t>
            </a:r>
            <a:r>
              <a:rPr lang="ar-AE" altLang="en-US" sz="1400" dirty="0">
                <a:solidFill>
                  <a:schemeClr val="tx1"/>
                </a:solidFill>
                <a:latin typeface="Calibri"/>
                <a:cs typeface="Calibri"/>
              </a:rPr>
              <a:t>L4</a:t>
            </a: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 بإقراركم.</a:t>
            </a:r>
            <a:endParaRPr lang="ar-AE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>
                <a:latin typeface="Calibri"/>
                <a:cs typeface="Calibri"/>
              </a:rPr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AE" altLang="en-US" sz="3200" b="1" dirty="0">
                <a:solidFill>
                  <a:schemeClr val="accent1"/>
                </a:solidFill>
                <a:latin typeface="Noto Naskh Arabic"/>
                <a:cs typeface="adwa-assalaf"/>
              </a:rPr>
              <a:t>خط الهوية وأيقونة البرنامج</a:t>
            </a:r>
            <a:endParaRPr lang="ar-AE" sz="3200" dirty="0"/>
          </a:p>
        </p:txBody>
      </p:sp>
      <p:sp>
        <p:nvSpPr>
          <p:cNvPr id="3" name="role-band"/>
          <p:cNvSpPr/>
          <p:nvPr/>
        </p:nvSpPr>
        <p:spPr>
          <a:xfrm>
            <a:off x="548640" y="1161288"/>
            <a:ext cx="11091672" cy="530352"/>
          </a:xfrm>
          <a:prstGeom prst="roundRect">
            <a:avLst>
              <a:gd name="adj" fmla="val 13793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48872" y="1161288"/>
            <a:ext cx="91440" cy="5303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0" y="1161288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500" b="1" dirty="0">
                <a:solidFill>
                  <a:srgbClr val="B8860B"/>
                </a:solidFill>
                <a:latin typeface="Noto Naskh Arabic"/>
                <a:cs typeface="adwa-assalaf"/>
              </a:rPr>
              <a:t>دور الشاشة:</a:t>
            </a:r>
            <a:endParaRPr lang="ar-AE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161288"/>
            <a:ext cx="9857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500" dirty="0">
                <a:solidFill>
                  <a:srgbClr val="12263F"/>
                </a:solidFill>
                <a:latin typeface="Noto Naskh Arabic"/>
                <a:cs typeface="adwa-assalaf"/>
              </a:rPr>
              <a:t>تخصيص المؤسسة بهويتكم: خط «أضواء السلف» وأيقونة تختارونها</a:t>
            </a:r>
            <a:endParaRPr lang="ar-AE" sz="1500" dirty="0"/>
          </a:p>
        </p:txBody>
      </p:sp>
      <p:sp>
        <p:nvSpPr>
          <p:cNvPr id="7" name="screen-frame"/>
          <p:cNvSpPr/>
          <p:nvPr/>
        </p:nvSpPr>
        <p:spPr>
          <a:xfrm>
            <a:off x="1133856" y="1819656"/>
            <a:ext cx="6784848" cy="3864483"/>
          </a:xfrm>
          <a:prstGeom prst="roundRect">
            <a:avLst>
              <a:gd name="adj" fmla="val 1893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2263F">
                <a:alpha val="18000"/>
              </a:srgbClr>
            </a:outerShdw>
          </a:effectLst>
        </p:spPr>
      </p:sp>
      <p:pic>
        <p:nvPicPr>
          <p:cNvPr id="8" name="screenshot" descr="/tmp/claude-0/-home-user/11b98046-3116-585b-b221-e5c2e170e62a/scratchpad/deck/bshots/15b_identit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874520"/>
            <a:ext cx="6675120" cy="3754755"/>
          </a:xfrm>
          <a:prstGeom prst="rect">
            <a:avLst/>
          </a:prstGeom>
        </p:spPr>
      </p:pic>
      <p:sp>
        <p:nvSpPr>
          <p:cNvPr id="9" name="num-1"/>
          <p:cNvSpPr/>
          <p:nvPr/>
        </p:nvSpPr>
        <p:spPr>
          <a:xfrm>
            <a:off x="11219688" y="1865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219688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1847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خط «أضواء السلف»</a:t>
            </a:r>
            <a:endParaRPr lang="ar-AE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183880" y="2231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يُودَع على الجهاز لا في المستودع، ويُثبَّت في النظام لـ </a:t>
            </a:r>
            <a:r>
              <a:rPr lang="ar-AE" altLang="en-US" sz="1400" dirty="0">
                <a:solidFill>
                  <a:schemeClr val="tx1"/>
                </a:solidFill>
                <a:latin typeface="Calibri"/>
                <a:cs typeface="Calibri"/>
              </a:rPr>
              <a:t>Word</a:t>
            </a: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 و</a:t>
            </a:r>
            <a:r>
              <a:rPr lang="ar-AE" altLang="en-US" sz="1400" dirty="0">
                <a:solidFill>
                  <a:schemeClr val="tx1"/>
                </a:solidFill>
                <a:latin typeface="Calibri"/>
                <a:cs typeface="Calibri"/>
              </a:rPr>
              <a:t>PowerPoint.</a:t>
            </a:r>
            <a:endParaRPr lang="ar-AE" sz="1400" dirty="0"/>
          </a:p>
        </p:txBody>
      </p:sp>
      <p:sp>
        <p:nvSpPr>
          <p:cNvPr id="13" name="num-2"/>
          <p:cNvSpPr/>
          <p:nvPr/>
        </p:nvSpPr>
        <p:spPr>
          <a:xfrm>
            <a:off x="11219688" y="3008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219688" y="3008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183880" y="2990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أيقونة البرنامج</a:t>
            </a:r>
            <a:endParaRPr lang="ar-AE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3374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اعتماد صورة تختارونها، وتحديث أيقونة سطح المكتب.</a:t>
            </a:r>
            <a:endParaRPr lang="ar-AE" sz="1400" dirty="0"/>
          </a:p>
        </p:txBody>
      </p:sp>
      <p:sp>
        <p:nvSpPr>
          <p:cNvPr id="17" name="num-3"/>
          <p:cNvSpPr/>
          <p:nvPr/>
        </p:nvSpPr>
        <p:spPr>
          <a:xfrm>
            <a:off x="11219688" y="41513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1219688" y="4151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183880" y="41330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600" b="1" dirty="0">
                <a:solidFill>
                  <a:schemeClr val="accent1"/>
                </a:solidFill>
                <a:latin typeface="Noto Naskh Arabic"/>
                <a:cs typeface="adwa-assalaf"/>
              </a:rPr>
              <a:t>إيقاف اللوحة</a:t>
            </a:r>
            <a:endParaRPr lang="ar-AE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183880" y="4517136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زر في آخر الصفحة، والأيقونة تعيد تشغيلها.</a:t>
            </a:r>
            <a:endParaRPr lang="ar-AE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>
                <a:latin typeface="Calibri"/>
                <a:cs typeface="Calibri"/>
              </a:rPr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panel"/>
          <p:cNvSpPr/>
          <p:nvPr/>
        </p:nvSpPr>
        <p:spPr>
          <a:xfrm>
            <a:off x="0" y="0"/>
            <a:ext cx="5486400" cy="65836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ection-disc"/>
          <p:cNvSpPr/>
          <p:nvPr/>
        </p:nvSpPr>
        <p:spPr>
          <a:xfrm>
            <a:off x="1600200" y="2148840"/>
            <a:ext cx="2286000" cy="228600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4" name="section-icon" descr="/tmp/claude-0/-home-user/11b98046-3116-585b-b221-e5c2e170e62a/scratchpad/deck/assets/i-comp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2743200"/>
            <a:ext cx="1097280" cy="1097280"/>
          </a:xfrm>
          <a:prstGeom prst="rect">
            <a:avLst/>
          </a:prstGeom>
        </p:spPr>
      </p:pic>
      <p:sp>
        <p:nvSpPr>
          <p:cNvPr id="5" name="Text 1"/>
          <p:cNvSpPr/>
          <p:nvPr>
            <p:ph idx="101" type="title" hasCustomPrompt="1"/>
          </p:nvPr>
        </p:nvSpPr>
        <p:spPr>
          <a:xfrm>
            <a:off x="6035040" y="2514600"/>
            <a:ext cx="5577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AE" altLang="en-US" sz="4000" b="1" dirty="0">
                <a:solidFill>
                  <a:schemeClr val="bg1"/>
                </a:solidFill>
                <a:latin typeface="Noto Naskh Arabic"/>
                <a:cs typeface="adwa-assalaf"/>
              </a:rPr>
              <a:t>الاستخدام</a:t>
            </a:r>
            <a:endParaRPr lang="ar-AE" sz="4000" dirty="0"/>
          </a:p>
        </p:txBody>
      </p:sp>
      <p:sp>
        <p:nvSpPr>
          <p:cNvPr id="6" name="Text 1"/>
          <p:cNvSpPr/>
          <p:nvPr>
            <p:ph idx="102" type="body" hasCustomPrompt="1"/>
          </p:nvPr>
        </p:nvSpPr>
        <p:spPr>
          <a:xfrm>
            <a:off x="6035040" y="3611880"/>
            <a:ext cx="5577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AE" altLang="en-US" sz="1800" dirty="0">
                <a:solidFill>
                  <a:srgbClr val="D9E4F0"/>
                </a:solidFill>
                <a:latin typeface="Noto Naskh Arabic"/>
                <a:cs typeface="adwa-assalaf"/>
              </a:rPr>
              <a:t>من الفكرة إلى العمل المعتمد، والقرار في كل منعطف لكم.</a:t>
            </a:r>
            <a:endParaRPr lang="ar-AE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AE" altLang="en-US" sz="3200" b="1" dirty="0">
                <a:solidFill>
                  <a:schemeClr val="accent1"/>
                </a:solidFill>
                <a:latin typeface="Noto Naskh Arabic"/>
                <a:cs typeface="adwa-assalaf"/>
              </a:rPr>
              <a:t>رحلة عمل في سبع محطات</a:t>
            </a:r>
            <a:endParaRPr lang="ar-AE" sz="3200" dirty="0"/>
          </a:p>
        </p:txBody>
      </p:sp>
      <p:sp>
        <p:nvSpPr>
          <p:cNvPr id="3" name="Shape 1"/>
          <p:cNvSpPr/>
          <p:nvPr/>
        </p:nvSpPr>
        <p:spPr>
          <a:xfrm>
            <a:off x="1097280" y="2057400"/>
            <a:ext cx="996696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dash"/>
          </a:ln>
        </p:spPr>
      </p:sp>
      <p:sp>
        <p:nvSpPr>
          <p:cNvPr id="4" name="icon-folder"/>
          <p:cNvSpPr/>
          <p:nvPr/>
        </p:nvSpPr>
        <p:spPr>
          <a:xfrm>
            <a:off x="10469880" y="1691640"/>
            <a:ext cx="731520" cy="73152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5" name="Image 0" descr="/tmp/claude-0/-home-user/11b98046-3116-585b-b221-e5c2e170e62a/scratchpad/deck/assets/i-f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1874520"/>
            <a:ext cx="365760" cy="365760"/>
          </a:xfrm>
          <a:prstGeom prst="rect">
            <a:avLst/>
          </a:prstGeom>
        </p:spPr>
      </p:pic>
      <p:sp>
        <p:nvSpPr>
          <p:cNvPr id="6" name="num-1"/>
          <p:cNvSpPr/>
          <p:nvPr/>
        </p:nvSpPr>
        <p:spPr>
          <a:xfrm>
            <a:off x="11018520" y="1572768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018520" y="1572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0058400" y="2560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400" b="1" dirty="0">
                <a:solidFill>
                  <a:schemeClr val="accent1"/>
                </a:solidFill>
                <a:latin typeface="Noto Naskh Arabic"/>
                <a:cs typeface="adwa-assalaf"/>
              </a:rPr>
              <a:t>مشروع جديد</a:t>
            </a:r>
            <a:endParaRPr lang="ar-AE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058400" y="29260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200" dirty="0">
                <a:solidFill>
                  <a:schemeClr val="tx2"/>
                </a:solidFill>
                <a:latin typeface="Noto Naskh Arabic"/>
                <a:cs typeface="adwa-assalaf"/>
              </a:rPr>
              <a:t>الإدارة والنوع والمستوى</a:t>
            </a:r>
            <a:endParaRPr lang="ar-AE" sz="1200" dirty="0"/>
          </a:p>
        </p:txBody>
      </p:sp>
      <p:sp>
        <p:nvSpPr>
          <p:cNvPr id="10" name="icon-search"/>
          <p:cNvSpPr/>
          <p:nvPr/>
        </p:nvSpPr>
        <p:spPr>
          <a:xfrm>
            <a:off x="8842248" y="1691640"/>
            <a:ext cx="731520" cy="731520"/>
          </a:xfrm>
          <a:prstGeom prst="ellipse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pic>
        <p:nvPicPr>
          <p:cNvPr id="11" name="Image 1" descr="/tmp/claude-0/-home-user/11b98046-3116-585b-b221-e5c2e170e62a/scratchpad/deck/assets/i-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5128" y="1874520"/>
            <a:ext cx="365760" cy="365760"/>
          </a:xfrm>
          <a:prstGeom prst="rect">
            <a:avLst/>
          </a:prstGeom>
        </p:spPr>
      </p:pic>
      <p:sp>
        <p:nvSpPr>
          <p:cNvPr id="12" name="num-2"/>
          <p:cNvSpPr/>
          <p:nvPr/>
        </p:nvSpPr>
        <p:spPr>
          <a:xfrm>
            <a:off x="9390888" y="1572768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9390888" y="1572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8430768" y="2560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4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الإشكالية</a:t>
            </a:r>
            <a:endParaRPr lang="ar-AE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8430768" y="29260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200" dirty="0">
                <a:solidFill>
                  <a:schemeClr val="tx2"/>
                </a:solidFill>
                <a:latin typeface="Noto Naskh Arabic"/>
                <a:cs typeface="adwa-assalaf"/>
              </a:rPr>
              <a:t>تحديدها ونطاقها</a:t>
            </a:r>
            <a:endParaRPr lang="ar-AE" sz="1200" dirty="0"/>
          </a:p>
        </p:txBody>
      </p:sp>
      <p:sp>
        <p:nvSpPr>
          <p:cNvPr id="16" name="icon-book"/>
          <p:cNvSpPr/>
          <p:nvPr/>
        </p:nvSpPr>
        <p:spPr>
          <a:xfrm>
            <a:off x="7214616" y="1691640"/>
            <a:ext cx="731520" cy="731520"/>
          </a:xfrm>
          <a:prstGeom prst="ellipse">
            <a:avLst/>
          </a:prstGeom>
          <a:solidFill>
            <a:srgbClr val="8B1E3F"/>
          </a:solidFill>
          <a:ln w="12700">
            <a:solidFill>
              <a:srgbClr val="8B1E3F"/>
            </a:solidFill>
            <a:prstDash val="solid"/>
          </a:ln>
        </p:spPr>
      </p:sp>
      <p:pic>
        <p:nvPicPr>
          <p:cNvPr id="17" name="Image 2" descr="/tmp/claude-0/-home-user/11b98046-3116-585b-b221-e5c2e170e62a/scratchpad/deck/assets/i-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7496" y="1874520"/>
            <a:ext cx="365760" cy="365760"/>
          </a:xfrm>
          <a:prstGeom prst="rect">
            <a:avLst/>
          </a:prstGeom>
        </p:spPr>
      </p:pic>
      <p:sp>
        <p:nvSpPr>
          <p:cNvPr id="18" name="num-3"/>
          <p:cNvSpPr/>
          <p:nvPr/>
        </p:nvSpPr>
        <p:spPr>
          <a:xfrm>
            <a:off x="7763256" y="1572768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763256" y="1572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803136" y="2560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400" b="1" dirty="0">
                <a:solidFill>
                  <a:schemeClr val="accent1"/>
                </a:solidFill>
                <a:latin typeface="Noto Naskh Arabic"/>
                <a:cs typeface="adwa-assalaf"/>
              </a:rPr>
              <a:t>المصادر</a:t>
            </a:r>
            <a:endParaRPr lang="ar-AE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6803136" y="29260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200" dirty="0">
                <a:solidFill>
                  <a:schemeClr val="tx2"/>
                </a:solidFill>
                <a:latin typeface="Noto Naskh Arabic"/>
                <a:cs typeface="adwa-assalaf"/>
              </a:rPr>
              <a:t>استكشافها والتحقق منها</a:t>
            </a:r>
            <a:endParaRPr lang="ar-AE" sz="1200" dirty="0"/>
          </a:p>
        </p:txBody>
      </p:sp>
      <p:sp>
        <p:nvSpPr>
          <p:cNvPr id="22" name="icon-layers"/>
          <p:cNvSpPr/>
          <p:nvPr/>
        </p:nvSpPr>
        <p:spPr>
          <a:xfrm>
            <a:off x="5586984" y="1691640"/>
            <a:ext cx="731520" cy="731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3" name="Image 3" descr="/tmp/claude-0/-home-user/11b98046-3116-585b-b221-e5c2e170e62a/scratchpad/deck/assets/i-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9864" y="1874520"/>
            <a:ext cx="365760" cy="365760"/>
          </a:xfrm>
          <a:prstGeom prst="rect">
            <a:avLst/>
          </a:prstGeom>
        </p:spPr>
      </p:pic>
      <p:sp>
        <p:nvSpPr>
          <p:cNvPr id="24" name="num-4"/>
          <p:cNvSpPr/>
          <p:nvPr/>
        </p:nvSpPr>
        <p:spPr>
          <a:xfrm>
            <a:off x="6135624" y="1572768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6135624" y="1572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5175504" y="2560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400" b="1" dirty="0">
                <a:solidFill>
                  <a:schemeClr val="accent1"/>
                </a:solidFill>
                <a:latin typeface="Noto Naskh Arabic"/>
                <a:cs typeface="adwa-assalaf"/>
              </a:rPr>
              <a:t>المخطط</a:t>
            </a:r>
            <a:endParaRPr lang="ar-AE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5175504" y="29260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200" dirty="0">
                <a:solidFill>
                  <a:schemeClr val="tx2"/>
                </a:solidFill>
                <a:latin typeface="Noto Naskh Arabic"/>
                <a:cs typeface="adwa-assalaf"/>
              </a:rPr>
              <a:t>اقتراحه واعتماده</a:t>
            </a:r>
            <a:endParaRPr lang="ar-AE" sz="1200" dirty="0"/>
          </a:p>
        </p:txBody>
      </p:sp>
      <p:sp>
        <p:nvSpPr>
          <p:cNvPr id="28" name="icon-feather"/>
          <p:cNvSpPr/>
          <p:nvPr/>
        </p:nvSpPr>
        <p:spPr>
          <a:xfrm>
            <a:off x="3959352" y="1691640"/>
            <a:ext cx="731520" cy="731520"/>
          </a:xfrm>
          <a:prstGeom prst="ellipse">
            <a:avLst/>
          </a:prstGeom>
          <a:solidFill>
            <a:srgbClr val="8B1E3F"/>
          </a:solidFill>
          <a:ln w="12700">
            <a:solidFill>
              <a:srgbClr val="8B1E3F"/>
            </a:solidFill>
            <a:prstDash val="solid"/>
          </a:ln>
        </p:spPr>
      </p:sp>
      <p:pic>
        <p:nvPicPr>
          <p:cNvPr id="29" name="Image 4" descr="/tmp/claude-0/-home-user/11b98046-3116-585b-b221-e5c2e170e62a/scratchpad/deck/assets/i-feath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2232" y="1874520"/>
            <a:ext cx="365760" cy="365760"/>
          </a:xfrm>
          <a:prstGeom prst="rect">
            <a:avLst/>
          </a:prstGeom>
        </p:spPr>
      </p:pic>
      <p:sp>
        <p:nvSpPr>
          <p:cNvPr id="30" name="num-5"/>
          <p:cNvSpPr/>
          <p:nvPr/>
        </p:nvSpPr>
        <p:spPr>
          <a:xfrm>
            <a:off x="4507992" y="1572768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4507992" y="1572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3547872" y="2560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400" b="1" dirty="0">
                <a:solidFill>
                  <a:schemeClr val="accent1"/>
                </a:solidFill>
                <a:latin typeface="Noto Naskh Arabic"/>
                <a:cs typeface="adwa-assalaf"/>
              </a:rPr>
              <a:t>الكتابة</a:t>
            </a:r>
            <a:endParaRPr lang="ar-AE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3547872" y="29260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200" dirty="0">
                <a:solidFill>
                  <a:schemeClr val="tx2"/>
                </a:solidFill>
                <a:latin typeface="Noto Naskh Arabic"/>
                <a:cs typeface="adwa-assalaf"/>
              </a:rPr>
              <a:t>وحدة بعد وحدة</a:t>
            </a:r>
            <a:endParaRPr lang="ar-AE" sz="1200" dirty="0"/>
          </a:p>
        </p:txBody>
      </p:sp>
      <p:sp>
        <p:nvSpPr>
          <p:cNvPr id="34" name="icon-shield"/>
          <p:cNvSpPr/>
          <p:nvPr/>
        </p:nvSpPr>
        <p:spPr>
          <a:xfrm>
            <a:off x="2331720" y="1691640"/>
            <a:ext cx="731520" cy="731520"/>
          </a:xfrm>
          <a:prstGeom prst="ellipse">
            <a:avLst/>
          </a:prstGeom>
          <a:solidFill>
            <a:srgbClr val="5B3A7A"/>
          </a:solidFill>
          <a:ln w="12700">
            <a:solidFill>
              <a:srgbClr val="5B3A7A"/>
            </a:solidFill>
            <a:prstDash val="solid"/>
          </a:ln>
        </p:spPr>
      </p:sp>
      <p:pic>
        <p:nvPicPr>
          <p:cNvPr id="35" name="Image 5" descr="/tmp/claude-0/-home-user/11b98046-3116-585b-b221-e5c2e170e62a/scratchpad/deck/assets/i-shie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600" y="1874520"/>
            <a:ext cx="365760" cy="365760"/>
          </a:xfrm>
          <a:prstGeom prst="rect">
            <a:avLst/>
          </a:prstGeom>
        </p:spPr>
      </p:pic>
      <p:sp>
        <p:nvSpPr>
          <p:cNvPr id="36" name="num-6"/>
          <p:cNvSpPr/>
          <p:nvPr/>
        </p:nvSpPr>
        <p:spPr>
          <a:xfrm>
            <a:off x="2880360" y="1572768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2880360" y="1572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8" name="Text 30"/>
          <p:cNvSpPr txBox="1"/>
          <p:nvPr/>
        </p:nvSpPr>
        <p:spPr>
          <a:xfrm>
            <a:off x="1920240" y="2560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400" b="1" dirty="0">
                <a:solidFill>
                  <a:schemeClr val="accent1"/>
                </a:solidFill>
                <a:latin typeface="Noto Naskh Arabic"/>
                <a:cs typeface="adwa-assalaf"/>
              </a:rPr>
              <a:t>الفحص</a:t>
            </a:r>
            <a:endParaRPr lang="ar-AE" sz="1400" dirty="0"/>
          </a:p>
        </p:txBody>
      </p:sp>
      <p:sp>
        <p:nvSpPr>
          <p:cNvPr id="39" name="Text 31"/>
          <p:cNvSpPr txBox="1"/>
          <p:nvPr/>
        </p:nvSpPr>
        <p:spPr>
          <a:xfrm>
            <a:off x="1920240" y="29260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200" dirty="0">
                <a:solidFill>
                  <a:schemeClr val="tx2"/>
                </a:solidFill>
                <a:latin typeface="Noto Naskh Arabic"/>
                <a:cs typeface="adwa-assalaf"/>
              </a:rPr>
              <a:t>الادعاءات والاستشهادات</a:t>
            </a:r>
            <a:endParaRPr lang="ar-AE" sz="1200" dirty="0"/>
          </a:p>
        </p:txBody>
      </p:sp>
      <p:sp>
        <p:nvSpPr>
          <p:cNvPr id="40" name="icon-check"/>
          <p:cNvSpPr/>
          <p:nvPr/>
        </p:nvSpPr>
        <p:spPr>
          <a:xfrm>
            <a:off x="704088" y="1691640"/>
            <a:ext cx="731520" cy="731520"/>
          </a:xfrm>
          <a:prstGeom prst="ellipse">
            <a:avLst/>
          </a:prstGeom>
          <a:solidFill>
            <a:srgbClr val="3E7C3A"/>
          </a:solidFill>
          <a:ln w="12700">
            <a:solidFill>
              <a:srgbClr val="3E7C3A"/>
            </a:solidFill>
            <a:prstDash val="solid"/>
          </a:ln>
        </p:spPr>
      </p:sp>
      <p:pic>
        <p:nvPicPr>
          <p:cNvPr id="41" name="Image 6" descr="/tmp/claude-0/-home-user/11b98046-3116-585b-b221-e5c2e170e62a/scratchpad/deck/assets/i-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968" y="1874520"/>
            <a:ext cx="365760" cy="365760"/>
          </a:xfrm>
          <a:prstGeom prst="rect">
            <a:avLst/>
          </a:prstGeom>
        </p:spPr>
      </p:pic>
      <p:sp>
        <p:nvSpPr>
          <p:cNvPr id="42" name="num-7"/>
          <p:cNvSpPr/>
          <p:nvPr/>
        </p:nvSpPr>
        <p:spPr>
          <a:xfrm>
            <a:off x="1252728" y="1572768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3" name="Text 34"/>
          <p:cNvSpPr txBox="1"/>
          <p:nvPr/>
        </p:nvSpPr>
        <p:spPr>
          <a:xfrm>
            <a:off x="1252728" y="1572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44" name="Text 35"/>
          <p:cNvSpPr txBox="1"/>
          <p:nvPr/>
        </p:nvSpPr>
        <p:spPr>
          <a:xfrm>
            <a:off x="292608" y="2560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4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الاعتماد</a:t>
            </a:r>
            <a:endParaRPr lang="ar-AE" sz="1400" dirty="0"/>
          </a:p>
        </p:txBody>
      </p:sp>
      <p:sp>
        <p:nvSpPr>
          <p:cNvPr id="45" name="Text 36"/>
          <p:cNvSpPr txBox="1"/>
          <p:nvPr/>
        </p:nvSpPr>
        <p:spPr>
          <a:xfrm>
            <a:off x="292608" y="29260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200" dirty="0">
                <a:solidFill>
                  <a:schemeClr val="tx2"/>
                </a:solidFill>
                <a:latin typeface="Noto Naskh Arabic"/>
                <a:cs typeface="adwa-assalaf"/>
              </a:rPr>
              <a:t>إقرار المؤلف</a:t>
            </a:r>
            <a:endParaRPr lang="ar-AE" sz="1200" dirty="0"/>
          </a:p>
        </p:txBody>
      </p:sp>
      <p:sp>
        <p:nvSpPr>
          <p:cNvPr id="46" name="gate-box"/>
          <p:cNvSpPr/>
          <p:nvPr/>
        </p:nvSpPr>
        <p:spPr>
          <a:xfrm>
            <a:off x="548640" y="3931920"/>
            <a:ext cx="11091672" cy="1737360"/>
          </a:xfrm>
          <a:prstGeom prst="roundRect">
            <a:avLst>
              <a:gd name="adj" fmla="val 4211"/>
            </a:avLst>
          </a:prstGeom>
          <a:solidFill>
            <a:srgbClr val="EEF3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7" name="icon-gate"/>
          <p:cNvSpPr/>
          <p:nvPr/>
        </p:nvSpPr>
        <p:spPr>
          <a:xfrm>
            <a:off x="10835640" y="4114800"/>
            <a:ext cx="548640" cy="54864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48" name="Image 7" descr="/tmp/claude-0/-home-user/11b98046-3116-585b-b221-e5c2e170e62a/scratchpad/deck/assets/i-ga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00" y="4251960"/>
            <a:ext cx="274320" cy="274320"/>
          </a:xfrm>
          <a:prstGeom prst="rect">
            <a:avLst/>
          </a:prstGeom>
        </p:spPr>
      </p:pic>
      <p:sp>
        <p:nvSpPr>
          <p:cNvPr id="49" name="Text 39"/>
          <p:cNvSpPr txBox="1"/>
          <p:nvPr/>
        </p:nvSpPr>
        <p:spPr>
          <a:xfrm>
            <a:off x="868680" y="411480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700" b="1" dirty="0">
                <a:solidFill>
                  <a:schemeClr val="accent1"/>
                </a:solidFill>
                <a:latin typeface="Noto Naskh Arabic"/>
                <a:cs typeface="adwa-assalaf"/>
              </a:rPr>
              <a:t>في كل منعطف</a:t>
            </a:r>
            <a:endParaRPr lang="ar-AE" sz="1700" dirty="0"/>
          </a:p>
        </p:txBody>
      </p:sp>
      <p:sp>
        <p:nvSpPr>
          <p:cNvPr id="50" name="Text 40"/>
          <p:cNvSpPr txBox="1"/>
          <p:nvPr/>
        </p:nvSpPr>
        <p:spPr>
          <a:xfrm>
            <a:off x="868680" y="4526280"/>
            <a:ext cx="9784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يقترح الوكيل، وتتحقق المنظومة ببواباتها، ويقرّر المؤلف. وقرارات </a:t>
            </a:r>
            <a:r>
              <a:rPr lang="ar-AE" altLang="en-US" sz="1400" dirty="0">
                <a:solidFill>
                  <a:schemeClr val="tx1"/>
                </a:solidFill>
                <a:latin typeface="Calibri"/>
                <a:cs typeface="Calibri"/>
              </a:rPr>
              <a:t>L4</a:t>
            </a: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 (الاعتماد والترقية وتعديل الذاكرة) تطلب إقراركم الصريح في كل مرة، ولا يدخل المخطوط نص لم تعتمدوه.</a:t>
            </a:r>
            <a:endParaRPr lang="ar-AE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>
                <a:latin typeface="Calibri"/>
                <a:cs typeface="Calibri"/>
              </a:rPr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AE" altLang="en-US" sz="3200" b="1" dirty="0">
                <a:solidFill>
                  <a:schemeClr val="accent1"/>
                </a:solidFill>
                <a:latin typeface="Noto Naskh Arabic"/>
                <a:cs typeface="adwa-assalaf"/>
              </a:rPr>
              <a:t>قواعد لا تُكسر</a:t>
            </a:r>
            <a:endParaRPr lang="ar-AE" sz="3200" dirty="0"/>
          </a:p>
        </p:txBody>
      </p:sp>
      <p:sp>
        <p:nvSpPr>
          <p:cNvPr id="3" name="icon-alert"/>
          <p:cNvSpPr/>
          <p:nvPr/>
        </p:nvSpPr>
        <p:spPr>
          <a:xfrm>
            <a:off x="11109960" y="1325880"/>
            <a:ext cx="548640" cy="548640"/>
          </a:xfrm>
          <a:prstGeom prst="ellipse">
            <a:avLst/>
          </a:prstGeom>
          <a:solidFill>
            <a:srgbClr val="8B1E3F"/>
          </a:solidFill>
          <a:ln w="12700">
            <a:solidFill>
              <a:srgbClr val="8B1E3F"/>
            </a:solidFill>
            <a:prstDash val="solid"/>
          </a:ln>
        </p:spPr>
      </p:sp>
      <p:pic>
        <p:nvPicPr>
          <p:cNvPr id="4" name="Image 0" descr="/tmp/claude-0/-home-user/11b98046-3116-585b-b221-e5c2e170e62a/scratchpad/deck/assets/i-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1463040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30759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700" b="1" dirty="0">
                <a:solidFill>
                  <a:schemeClr val="accent1"/>
                </a:solidFill>
                <a:latin typeface="Noto Naskh Arabic"/>
                <a:cs typeface="adwa-assalaf"/>
              </a:rPr>
              <a:t>صفر تلفيق</a:t>
            </a:r>
            <a:endParaRPr lang="ar-AE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916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لا مرجع ولا اقتباس ولا </a:t>
            </a:r>
            <a:r>
              <a:rPr lang="ar-AE" altLang="en-US" sz="1400" dirty="0">
                <a:solidFill>
                  <a:schemeClr val="tx1"/>
                </a:solidFill>
                <a:latin typeface="Calibri"/>
                <a:cs typeface="Calibri"/>
              </a:rPr>
              <a:t>DOI</a:t>
            </a: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 مختلق؛ والمجهول يُكتب «يُستكمل».</a:t>
            </a:r>
            <a:endParaRPr lang="ar-AE" sz="1400" dirty="0"/>
          </a:p>
        </p:txBody>
      </p:sp>
      <p:sp>
        <p:nvSpPr>
          <p:cNvPr id="7" name="icon-check"/>
          <p:cNvSpPr/>
          <p:nvPr/>
        </p:nvSpPr>
        <p:spPr>
          <a:xfrm>
            <a:off x="11109960" y="2240280"/>
            <a:ext cx="548640" cy="54864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8" name="Image 1" descr="/tmp/claude-0/-home-user/11b98046-3116-585b-b221-e5c2e170e62a/scratchpad/deck/assets/i-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23774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222199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700" b="1" dirty="0">
                <a:solidFill>
                  <a:schemeClr val="accent1"/>
                </a:solidFill>
                <a:latin typeface="Noto Naskh Arabic"/>
                <a:cs typeface="adwa-assalaf"/>
              </a:rPr>
              <a:t>سلطة المؤلف</a:t>
            </a:r>
            <a:endParaRPr lang="ar-AE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6060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الفكر والأطروحة والقرار العلمي والاعتماد للنشر بيد المؤلف.</a:t>
            </a:r>
            <a:endParaRPr lang="ar-AE" sz="1400" dirty="0"/>
          </a:p>
        </p:txBody>
      </p:sp>
      <p:sp>
        <p:nvSpPr>
          <p:cNvPr id="11" name="icon-feather"/>
          <p:cNvSpPr/>
          <p:nvPr/>
        </p:nvSpPr>
        <p:spPr>
          <a:xfrm>
            <a:off x="11109960" y="315468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2" name="Image 2" descr="/tmp/claude-0/-home-user/11b98046-3116-585b-b221-e5c2e170e62a/scratchpad/deck/assets/i-feath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329184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48640" y="313639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700" b="1" dirty="0">
                <a:solidFill>
                  <a:schemeClr val="accent1"/>
                </a:solidFill>
                <a:latin typeface="Noto Naskh Arabic"/>
                <a:cs typeface="adwa-assalaf"/>
              </a:rPr>
              <a:t>عربية بشرية محكمة</a:t>
            </a:r>
            <a:endParaRPr lang="ar-AE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548640" y="35204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لا لوازم الصياغة الآلية، ولا ملاحظات إنجليزية، ولا علامات مائية.</a:t>
            </a:r>
            <a:endParaRPr lang="ar-AE" sz="1400" dirty="0"/>
          </a:p>
        </p:txBody>
      </p:sp>
      <p:sp>
        <p:nvSpPr>
          <p:cNvPr id="15" name="icon-lock"/>
          <p:cNvSpPr/>
          <p:nvPr/>
        </p:nvSpPr>
        <p:spPr>
          <a:xfrm>
            <a:off x="11109960" y="4069080"/>
            <a:ext cx="548640" cy="54864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16" name="Image 3" descr="/tmp/claude-0/-home-user/11b98046-3116-585b-b221-e5c2e170e62a/scratchpad/deck/assets/i-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0" y="420624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48640" y="405079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7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الخصوصية</a:t>
            </a:r>
            <a:endParaRPr lang="ar-AE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548640" y="44348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الذاكرة الخاصة ومخرجات التشغيل لا تُرفع إلى المستودع.</a:t>
            </a:r>
            <a:endParaRPr lang="ar-AE" sz="1400" dirty="0"/>
          </a:p>
        </p:txBody>
      </p:sp>
      <p:sp>
        <p:nvSpPr>
          <p:cNvPr id="19" name="icon-database"/>
          <p:cNvSpPr/>
          <p:nvPr/>
        </p:nvSpPr>
        <p:spPr>
          <a:xfrm>
            <a:off x="11109960" y="4983480"/>
            <a:ext cx="548640" cy="548640"/>
          </a:xfrm>
          <a:prstGeom prst="ellipse">
            <a:avLst/>
          </a:prstGeom>
          <a:solidFill>
            <a:srgbClr val="3E7C3A"/>
          </a:solidFill>
          <a:ln w="12700">
            <a:solidFill>
              <a:srgbClr val="3E7C3A"/>
            </a:solidFill>
            <a:prstDash val="solid"/>
          </a:ln>
        </p:spPr>
      </p:sp>
      <p:pic>
        <p:nvPicPr>
          <p:cNvPr id="20" name="Image 4" descr="/tmp/claude-0/-home-user/11b98046-3116-585b-b221-e5c2e170e62a/scratchpad/deck/assets/i-databa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7120" y="512064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48640" y="496519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700" b="1" dirty="0">
                <a:solidFill>
                  <a:schemeClr val="accent1"/>
                </a:solidFill>
                <a:latin typeface="Noto Naskh Arabic"/>
                <a:cs typeface="adwa-assalaf"/>
              </a:rPr>
              <a:t>الأثر المسجَّل</a:t>
            </a:r>
            <a:endParaRPr lang="ar-AE" sz="1700" dirty="0"/>
          </a:p>
        </p:txBody>
      </p:sp>
      <p:sp>
        <p:nvSpPr>
          <p:cNvPr id="22" name="Text 15"/>
          <p:cNvSpPr txBox="1"/>
          <p:nvPr/>
        </p:nvSpPr>
        <p:spPr>
          <a:xfrm>
            <a:off x="548640" y="53492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Noto Naskh Arabic"/>
                <a:cs typeface="adwa-assalaf"/>
              </a:rPr>
              <a:t>كل إجراء في سجل التدقيق، وكل أصل ببصمته.</a:t>
            </a:r>
            <a:endParaRPr lang="ar-AE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>
                <a:latin typeface="Calibri"/>
                <a:cs typeface="Calibri"/>
              </a:rPr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2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/11b98046-3116-585b-b221-e5c2e170e62a/scratchpad/deck/assets/bahi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3248" y="9144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371600" y="2606040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4000" b="1" dirty="0">
                <a:solidFill>
                  <a:schemeClr val="bg1"/>
                </a:solidFill>
                <a:latin typeface="Noto Naskh Arabic"/>
                <a:cs typeface="adwa-assalaf"/>
              </a:rPr>
              <a:t>ابدؤوا بمشروع تجريبي</a:t>
            </a:r>
            <a:endParaRPr lang="ar-AE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1371600" y="347472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2000" dirty="0">
                <a:solidFill>
                  <a:srgbClr val="F0D58A"/>
                </a:solidFill>
                <a:latin typeface="Noto Naskh Arabic"/>
                <a:cs typeface="adwa-assalaf"/>
              </a:rPr>
              <a:t>ثم اختاروا المحرك، وشغّلوا المهمة الأولى، واقرؤوا المخرج في الشاشة الجانبية</a:t>
            </a:r>
            <a:endParaRPr lang="ar-AE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5120640"/>
            <a:ext cx="9445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400" dirty="0">
                <a:solidFill>
                  <a:srgbClr val="D9E4F0"/>
                </a:solidFill>
                <a:latin typeface="Noto Naskh Arabic"/>
                <a:cs typeface="adwa-assalaf"/>
              </a:rPr>
              <a:t>دليل اللوحة: </a:t>
            </a:r>
            <a:r>
              <a:rPr lang="ar-AE" altLang="en-US" sz="1400" dirty="0">
                <a:solidFill>
                  <a:srgbClr val="D9E4F0"/>
                </a:solidFill>
                <a:latin typeface="Calibri"/>
                <a:cs typeface="Calibri"/>
              </a:rPr>
              <a:t>documentation/phase-5/control-panel.md</a:t>
            </a:r>
            <a:endParaRPr lang="ar-AE" sz="1400" dirty="0"/>
          </a:p>
        </p:txBody>
      </p:sp>
      <p:sp>
        <p:nvSpPr>
          <p:cNvPr id="6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Bahith">
  <a:themeElements>
    <a:clrScheme name="Bahith">
      <a:dk1>
        <a:srgbClr val="1A2433"/>
      </a:dk1>
      <a:lt1>
        <a:srgbClr val="FFFFFF"/>
      </a:lt1>
      <a:dk2>
        <a:srgbClr val="12263F"/>
      </a:dk2>
      <a:lt2>
        <a:srgbClr val="EEF3F8"/>
      </a:lt2>
      <a:accent1>
        <a:srgbClr val="1F4E79"/>
      </a:accent1>
      <a:accent2>
        <a:srgbClr val="B8860B"/>
      </a:accent2>
      <a:accent3>
        <a:srgbClr val="0E7C86"/>
      </a:accent3>
      <a:accent4>
        <a:srgbClr val="A0522D"/>
      </a:accent4>
      <a:accent5>
        <a:srgbClr val="3E7C3A"/>
      </a:accent5>
      <a:accent6>
        <a:srgbClr val="8B1E3F"/>
      </a:accent6>
      <a:hlink>
        <a:srgbClr val="1F4E79"/>
      </a:hlink>
      <a:folHlink>
        <a:srgbClr val="5B3A7A"/>
      </a:folHlink>
    </a:clrScheme>
    <a:fontScheme name="Bahith">
      <a:majorFont>
        <a:latin typeface="Noto Naskh Arabic"/>
        <a:ea typeface=""/>
        <a:cs typeface="adwa-assalaf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Naskh Arabic"/>
        <a:ea typeface=""/>
        <a:cs typeface="adwa-assalaf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باحث — دليل لوحة السيطرة واستخدامها</dc:title>
  <dc:subject>PptxGenJS Presentation</dc:subject>
  <dc:creator>باحث — مؤسسة البحث والتطوير المعرفي</dc:creator>
  <cp:lastModifiedBy>باحث — مؤسسة البحث والتطوير المعرفي</cp:lastModifiedBy>
  <cp:revision>1</cp:revision>
  <dcterms:created xsi:type="dcterms:W3CDTF">2026-10-15T14:04:02Z</dcterms:created>
  <dcterms:modified xsi:type="dcterms:W3CDTF">2026-10-15T14:04:02Z</dcterms:modified>
</cp:coreProperties>
</file>